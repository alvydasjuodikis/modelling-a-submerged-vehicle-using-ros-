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3" r:id="rId2"/>
    <p:sldId id="264" r:id="rId3"/>
    <p:sldId id="258" r:id="rId4"/>
    <p:sldId id="259" r:id="rId5"/>
    <p:sldId id="261" r:id="rId6"/>
    <p:sldId id="257" r:id="rId7"/>
    <p:sldId id="262"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0" autoAdjust="0"/>
    <p:restoredTop sz="94660"/>
  </p:normalViewPr>
  <p:slideViewPr>
    <p:cSldViewPr snapToGrid="0">
      <p:cViewPr>
        <p:scale>
          <a:sx n="40" d="100"/>
          <a:sy n="40" d="100"/>
        </p:scale>
        <p:origin x="2508" y="12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83D06E00-361C-4A08-AAA0-8F42C32EDEC0}" type="datetimeFigureOut">
              <a:rPr lang="en-GB" smtClean="0"/>
              <a:t>10/09/2020</a:t>
            </a:fld>
            <a:endParaRPr lang="en-GB"/>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GB"/>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B6238C2C-F978-4DD6-BE95-8FDADACE5540}" type="slidenum">
              <a:rPr lang="en-GB" smtClean="0"/>
              <a:t>‹#›</a:t>
            </a:fld>
            <a:endParaRPr lang="en-GB"/>
          </a:p>
        </p:txBody>
      </p:sp>
    </p:spTree>
    <p:extLst>
      <p:ext uri="{BB962C8B-B14F-4D97-AF65-F5344CB8AC3E}">
        <p14:creationId xmlns:p14="http://schemas.microsoft.com/office/powerpoint/2010/main" val="3637119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3D06E00-361C-4A08-AAA0-8F42C32EDEC0}" type="datetimeFigureOut">
              <a:rPr lang="en-GB" smtClean="0"/>
              <a:t>10/09/2020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238C2C-F978-4DD6-BE95-8FDADACE5540}" type="slidenum">
              <a:rPr lang="en-GB" smtClean="0"/>
              <a:t>‹#›</a:t>
            </a:fld>
            <a:endParaRPr lang="en-GB"/>
          </a:p>
        </p:txBody>
      </p:sp>
    </p:spTree>
    <p:extLst>
      <p:ext uri="{BB962C8B-B14F-4D97-AF65-F5344CB8AC3E}">
        <p14:creationId xmlns:p14="http://schemas.microsoft.com/office/powerpoint/2010/main" val="1081545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D06E00-361C-4A08-AAA0-8F42C32EDEC0}" type="datetimeFigureOut">
              <a:rPr lang="en-GB" smtClean="0"/>
              <a:t>10/09/2020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238C2C-F978-4DD6-BE95-8FDADACE5540}" type="slidenum">
              <a:rPr lang="en-GB" smtClean="0"/>
              <a:t>‹#›</a:t>
            </a:fld>
            <a:endParaRPr lang="en-GB"/>
          </a:p>
        </p:txBody>
      </p:sp>
    </p:spTree>
    <p:extLst>
      <p:ext uri="{BB962C8B-B14F-4D97-AF65-F5344CB8AC3E}">
        <p14:creationId xmlns:p14="http://schemas.microsoft.com/office/powerpoint/2010/main" val="2787359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3D06E00-361C-4A08-AAA0-8F42C32EDEC0}" type="datetimeFigureOut">
              <a:rPr lang="en-GB" smtClean="0"/>
              <a:t>10/09/2020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6238C2C-F978-4DD6-BE95-8FDADACE5540}" type="slidenum">
              <a:rPr lang="en-GB" smtClean="0"/>
              <a:t>‹#›</a:t>
            </a:fld>
            <a:endParaRPr lang="en-GB"/>
          </a:p>
        </p:txBody>
      </p:sp>
    </p:spTree>
    <p:extLst>
      <p:ext uri="{BB962C8B-B14F-4D97-AF65-F5344CB8AC3E}">
        <p14:creationId xmlns:p14="http://schemas.microsoft.com/office/powerpoint/2010/main" val="2717476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3D06E00-361C-4A08-AAA0-8F42C32EDEC0}" type="datetimeFigureOut">
              <a:rPr lang="en-GB" smtClean="0"/>
              <a:t>10/09/2020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6238C2C-F978-4DD6-BE95-8FDADACE5540}" type="slidenum">
              <a:rPr lang="en-GB" smtClean="0"/>
              <a:t>‹#›</a:t>
            </a:fld>
            <a:endParaRPr lang="en-GB"/>
          </a:p>
        </p:txBody>
      </p:sp>
    </p:spTree>
    <p:extLst>
      <p:ext uri="{BB962C8B-B14F-4D97-AF65-F5344CB8AC3E}">
        <p14:creationId xmlns:p14="http://schemas.microsoft.com/office/powerpoint/2010/main" val="72864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3D06E00-361C-4A08-AAA0-8F42C32EDEC0}" type="datetimeFigureOut">
              <a:rPr lang="en-GB" smtClean="0"/>
              <a:t>10/09/2020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6238C2C-F978-4DD6-BE95-8FDADACE5540}" type="slidenum">
              <a:rPr lang="en-GB" smtClean="0"/>
              <a:t>‹#›</a:t>
            </a:fld>
            <a:endParaRPr lang="en-GB"/>
          </a:p>
        </p:txBody>
      </p:sp>
    </p:spTree>
    <p:extLst>
      <p:ext uri="{BB962C8B-B14F-4D97-AF65-F5344CB8AC3E}">
        <p14:creationId xmlns:p14="http://schemas.microsoft.com/office/powerpoint/2010/main" val="4198157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D06E00-361C-4A08-AAA0-8F42C32EDEC0}" type="datetimeFigureOut">
              <a:rPr lang="en-GB" smtClean="0"/>
              <a:t>10/09/2020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6238C2C-F978-4DD6-BE95-8FDADACE5540}" type="slidenum">
              <a:rPr lang="en-GB" smtClean="0"/>
              <a:t>‹#›</a:t>
            </a:fld>
            <a:endParaRPr lang="en-GB"/>
          </a:p>
        </p:txBody>
      </p:sp>
    </p:spTree>
    <p:extLst>
      <p:ext uri="{BB962C8B-B14F-4D97-AF65-F5344CB8AC3E}">
        <p14:creationId xmlns:p14="http://schemas.microsoft.com/office/powerpoint/2010/main" val="4165949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smtClean="0"/>
              <a:t>Click to edit Master text styles</a:t>
            </a:r>
          </a:p>
        </p:txBody>
      </p:sp>
      <p:sp>
        <p:nvSpPr>
          <p:cNvPr id="5" name="Date Placeholder 4"/>
          <p:cNvSpPr>
            <a:spLocks noGrp="1"/>
          </p:cNvSpPr>
          <p:nvPr>
            <p:ph type="dt" sz="half" idx="10"/>
          </p:nvPr>
        </p:nvSpPr>
        <p:spPr/>
        <p:txBody>
          <a:bodyPr/>
          <a:lstStyle/>
          <a:p>
            <a:fld id="{83D06E00-361C-4A08-AAA0-8F42C32EDEC0}" type="datetimeFigureOut">
              <a:rPr lang="en-GB" smtClean="0"/>
              <a:t>10/09/2020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B6238C2C-F978-4DD6-BE95-8FDADACE5540}" type="slidenum">
              <a:rPr lang="en-GB" smtClean="0"/>
              <a:t>‹#›</a:t>
            </a:fld>
            <a:endParaRPr lang="en-GB"/>
          </a:p>
        </p:txBody>
      </p:sp>
    </p:spTree>
    <p:extLst>
      <p:ext uri="{BB962C8B-B14F-4D97-AF65-F5344CB8AC3E}">
        <p14:creationId xmlns:p14="http://schemas.microsoft.com/office/powerpoint/2010/main" val="498259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83D06E00-361C-4A08-AAA0-8F42C32EDEC0}" type="datetimeFigureOut">
              <a:rPr lang="en-GB" smtClean="0"/>
              <a:t>10/09/2020</a:t>
            </a:fld>
            <a:endParaRPr lang="en-GB"/>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GB"/>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B6238C2C-F978-4DD6-BE95-8FDADACE5540}" type="slidenum">
              <a:rPr lang="en-GB" smtClean="0"/>
              <a:t>‹#›</a:t>
            </a:fld>
            <a:endParaRPr lang="en-GB"/>
          </a:p>
        </p:txBody>
      </p:sp>
    </p:spTree>
    <p:extLst>
      <p:ext uri="{BB962C8B-B14F-4D97-AF65-F5344CB8AC3E}">
        <p14:creationId xmlns:p14="http://schemas.microsoft.com/office/powerpoint/2010/main" val="385456693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3D06E00-361C-4A08-AAA0-8F42C32EDEC0}" type="datetimeFigureOut">
              <a:rPr lang="en-GB" smtClean="0"/>
              <a:t>10/09/2020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238C2C-F978-4DD6-BE95-8FDADACE5540}" type="slidenum">
              <a:rPr lang="en-GB" smtClean="0"/>
              <a:t>‹#›</a:t>
            </a:fld>
            <a:endParaRPr lang="en-GB"/>
          </a:p>
        </p:txBody>
      </p:sp>
    </p:spTree>
    <p:extLst>
      <p:ext uri="{BB962C8B-B14F-4D97-AF65-F5344CB8AC3E}">
        <p14:creationId xmlns:p14="http://schemas.microsoft.com/office/powerpoint/2010/main" val="1255131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3D06E00-361C-4A08-AAA0-8F42C32EDEC0}" type="datetimeFigureOut">
              <a:rPr lang="en-GB" smtClean="0"/>
              <a:t>10/09/2020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238C2C-F978-4DD6-BE95-8FDADACE5540}" type="slidenum">
              <a:rPr lang="en-GB" smtClean="0"/>
              <a:t>‹#›</a:t>
            </a:fld>
            <a:endParaRPr lang="en-GB"/>
          </a:p>
        </p:txBody>
      </p:sp>
    </p:spTree>
    <p:extLst>
      <p:ext uri="{BB962C8B-B14F-4D97-AF65-F5344CB8AC3E}">
        <p14:creationId xmlns:p14="http://schemas.microsoft.com/office/powerpoint/2010/main" val="2699860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83D06E00-361C-4A08-AAA0-8F42C32EDEC0}" type="datetimeFigureOut">
              <a:rPr lang="en-GB" smtClean="0"/>
              <a:t>10/09/2020</a:t>
            </a:fld>
            <a:endParaRPr lang="en-GB"/>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GB"/>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B6238C2C-F978-4DD6-BE95-8FDADACE5540}" type="slidenum">
              <a:rPr lang="en-GB" smtClean="0"/>
              <a:t>‹#›</a:t>
            </a:fld>
            <a:endParaRPr lang="en-GB"/>
          </a:p>
        </p:txBody>
      </p:sp>
    </p:spTree>
    <p:extLst>
      <p:ext uri="{BB962C8B-B14F-4D97-AF65-F5344CB8AC3E}">
        <p14:creationId xmlns:p14="http://schemas.microsoft.com/office/powerpoint/2010/main" val="2442774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4000" b="1" dirty="0" smtClean="0"/>
              <a:t>Modelling a submerged Vehicle using ROS </a:t>
            </a:r>
            <a:r>
              <a:rPr lang="en-GB" sz="4000" b="1" smtClean="0"/>
              <a:t/>
            </a:r>
            <a:br>
              <a:rPr lang="en-GB" sz="4000" b="1" smtClean="0"/>
            </a:br>
            <a:r>
              <a:rPr lang="en-GB" sz="4000" b="1" smtClean="0"/>
              <a:t>(</a:t>
            </a:r>
            <a:r>
              <a:rPr lang="en-GB" sz="4000" b="1" smtClean="0"/>
              <a:t>Initial </a:t>
            </a:r>
            <a:r>
              <a:rPr lang="en-GB" sz="4000" b="1" dirty="0" smtClean="0"/>
              <a:t>planning for </a:t>
            </a:r>
            <a:r>
              <a:rPr lang="en-GB" sz="4000" b="1" smtClean="0"/>
              <a:t>System Design)</a:t>
            </a:r>
            <a:endParaRPr lang="en-GB" sz="4000" b="1" dirty="0"/>
          </a:p>
        </p:txBody>
      </p:sp>
      <p:sp>
        <p:nvSpPr>
          <p:cNvPr id="5" name="TextBox 4"/>
          <p:cNvSpPr txBox="1"/>
          <p:nvPr/>
        </p:nvSpPr>
        <p:spPr>
          <a:xfrm>
            <a:off x="10332720" y="6457890"/>
            <a:ext cx="3322320" cy="400110"/>
          </a:xfrm>
          <a:prstGeom prst="rect">
            <a:avLst/>
          </a:prstGeom>
          <a:noFill/>
        </p:spPr>
        <p:txBody>
          <a:bodyPr wrap="square" rtlCol="0">
            <a:spAutoFit/>
          </a:bodyPr>
          <a:lstStyle/>
          <a:p>
            <a:r>
              <a:rPr lang="en-GB" sz="2000" dirty="0" smtClean="0"/>
              <a:t>Alvydas Juodikis</a:t>
            </a:r>
            <a:endParaRPr lang="en-GB" sz="2000"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33757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7591" y="732874"/>
            <a:ext cx="2928779" cy="602673"/>
          </a:xfrm>
          <a:prstGeom prst="rect">
            <a:avLst/>
          </a:prstGeom>
          <a:noFill/>
          <a:ln w="508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1604932" y="959388"/>
            <a:ext cx="654096" cy="324204"/>
          </a:xfrm>
          <a:prstGeom prst="rect">
            <a:avLst/>
          </a:prstGeom>
          <a:solidFill>
            <a:srgbClr val="002060"/>
          </a:solidFill>
          <a:ln w="508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rot="809136">
            <a:off x="380741" y="2601240"/>
            <a:ext cx="2928779" cy="602673"/>
          </a:xfrm>
          <a:prstGeom prst="rect">
            <a:avLst/>
          </a:prstGeom>
          <a:noFill/>
          <a:ln w="508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rot="809136">
            <a:off x="2580426" y="3079190"/>
            <a:ext cx="654096" cy="324204"/>
          </a:xfrm>
          <a:prstGeom prst="rect">
            <a:avLst/>
          </a:prstGeom>
          <a:solidFill>
            <a:srgbClr val="002060"/>
          </a:solidFill>
          <a:ln w="508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Arrow Connector 7"/>
          <p:cNvCxnSpPr/>
          <p:nvPr/>
        </p:nvCxnSpPr>
        <p:spPr>
          <a:xfrm>
            <a:off x="2304701" y="1150186"/>
            <a:ext cx="1098155" cy="251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448529" y="792530"/>
            <a:ext cx="1040130" cy="584775"/>
          </a:xfrm>
          <a:prstGeom prst="rect">
            <a:avLst/>
          </a:prstGeom>
          <a:noFill/>
        </p:spPr>
        <p:txBody>
          <a:bodyPr wrap="square" rtlCol="0">
            <a:spAutoFit/>
          </a:bodyPr>
          <a:lstStyle/>
          <a:p>
            <a:r>
              <a:rPr lang="en-GB" sz="1600" dirty="0" smtClean="0"/>
              <a:t>Direction of Motion</a:t>
            </a:r>
            <a:endParaRPr lang="en-GB" sz="1600" dirty="0"/>
          </a:p>
        </p:txBody>
      </p:sp>
      <p:sp>
        <p:nvSpPr>
          <p:cNvPr id="10" name="Rectangle 9"/>
          <p:cNvSpPr/>
          <p:nvPr/>
        </p:nvSpPr>
        <p:spPr>
          <a:xfrm>
            <a:off x="519520" y="4852572"/>
            <a:ext cx="2928779" cy="602673"/>
          </a:xfrm>
          <a:prstGeom prst="rect">
            <a:avLst/>
          </a:prstGeom>
          <a:noFill/>
          <a:ln w="508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p:nvSpPr>
        <p:spPr>
          <a:xfrm>
            <a:off x="2764784" y="5096751"/>
            <a:ext cx="654096" cy="324204"/>
          </a:xfrm>
          <a:prstGeom prst="rect">
            <a:avLst/>
          </a:prstGeom>
          <a:solidFill>
            <a:srgbClr val="002060"/>
          </a:solidFill>
          <a:ln w="508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1778169" y="4957516"/>
            <a:ext cx="411480" cy="392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Isosceles Triangle 12"/>
          <p:cNvSpPr/>
          <p:nvPr/>
        </p:nvSpPr>
        <p:spPr>
          <a:xfrm>
            <a:off x="1819984" y="5519667"/>
            <a:ext cx="320040" cy="42083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p:cNvSpPr txBox="1"/>
          <p:nvPr/>
        </p:nvSpPr>
        <p:spPr>
          <a:xfrm>
            <a:off x="0" y="6396335"/>
            <a:ext cx="4852318" cy="461665"/>
          </a:xfrm>
          <a:prstGeom prst="rect">
            <a:avLst/>
          </a:prstGeom>
          <a:noFill/>
        </p:spPr>
        <p:txBody>
          <a:bodyPr wrap="square" rtlCol="0">
            <a:spAutoFit/>
          </a:bodyPr>
          <a:lstStyle/>
          <a:p>
            <a:r>
              <a:rPr lang="en-GB" sz="1200" dirty="0" smtClean="0"/>
              <a:t>Pivot point chosen here to represent the upward force that would be present due to buoyancy that opposes the weight of the submerged object</a:t>
            </a:r>
            <a:endParaRPr lang="en-GB" sz="1200" dirty="0"/>
          </a:p>
        </p:txBody>
      </p:sp>
      <p:cxnSp>
        <p:nvCxnSpPr>
          <p:cNvPr id="15" name="Straight Arrow Connector 14"/>
          <p:cNvCxnSpPr/>
          <p:nvPr/>
        </p:nvCxnSpPr>
        <p:spPr>
          <a:xfrm>
            <a:off x="1980004" y="5463556"/>
            <a:ext cx="0" cy="729444"/>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778169" y="6123153"/>
            <a:ext cx="532788" cy="369332"/>
          </a:xfrm>
          <a:prstGeom prst="rect">
            <a:avLst/>
          </a:prstGeom>
          <a:noFill/>
        </p:spPr>
        <p:txBody>
          <a:bodyPr wrap="square" rtlCol="0">
            <a:spAutoFit/>
          </a:bodyPr>
          <a:lstStyle/>
          <a:p>
            <a:r>
              <a:rPr lang="en-GB" dirty="0" smtClean="0">
                <a:solidFill>
                  <a:srgbClr val="FF0000"/>
                </a:solidFill>
              </a:rPr>
              <a:t>mg</a:t>
            </a:r>
            <a:endParaRPr lang="en-GB" dirty="0">
              <a:solidFill>
                <a:srgbClr val="FF0000"/>
              </a:solidFill>
            </a:endParaRPr>
          </a:p>
        </p:txBody>
      </p:sp>
      <p:sp>
        <p:nvSpPr>
          <p:cNvPr id="17" name="TextBox 16"/>
          <p:cNvSpPr txBox="1"/>
          <p:nvPr/>
        </p:nvSpPr>
        <p:spPr>
          <a:xfrm>
            <a:off x="2825438" y="6123153"/>
            <a:ext cx="532788" cy="369332"/>
          </a:xfrm>
          <a:prstGeom prst="rect">
            <a:avLst/>
          </a:prstGeom>
          <a:noFill/>
        </p:spPr>
        <p:txBody>
          <a:bodyPr wrap="square" rtlCol="0">
            <a:spAutoFit/>
          </a:bodyPr>
          <a:lstStyle/>
          <a:p>
            <a:r>
              <a:rPr lang="en-GB" dirty="0" smtClean="0">
                <a:solidFill>
                  <a:srgbClr val="FF0000"/>
                </a:solidFill>
              </a:rPr>
              <a:t>Mg</a:t>
            </a:r>
            <a:endParaRPr lang="en-GB" dirty="0">
              <a:solidFill>
                <a:srgbClr val="FF0000"/>
              </a:solidFill>
            </a:endParaRPr>
          </a:p>
        </p:txBody>
      </p:sp>
      <p:sp>
        <p:nvSpPr>
          <p:cNvPr id="18" name="TextBox 17"/>
          <p:cNvSpPr txBox="1"/>
          <p:nvPr/>
        </p:nvSpPr>
        <p:spPr>
          <a:xfrm>
            <a:off x="9798627" y="0"/>
            <a:ext cx="2393373" cy="5262979"/>
          </a:xfrm>
          <a:prstGeom prst="rect">
            <a:avLst/>
          </a:prstGeom>
          <a:solidFill>
            <a:schemeClr val="bg1"/>
          </a:solidFill>
          <a:ln>
            <a:solidFill>
              <a:schemeClr val="tx1"/>
            </a:solidFill>
          </a:ln>
        </p:spPr>
        <p:txBody>
          <a:bodyPr wrap="square" rtlCol="0">
            <a:spAutoFit/>
          </a:bodyPr>
          <a:lstStyle/>
          <a:p>
            <a:r>
              <a:rPr lang="en-GB" sz="1200" dirty="0" smtClean="0"/>
              <a:t>Assumptions:</a:t>
            </a:r>
          </a:p>
          <a:p>
            <a:endParaRPr lang="en-GB" sz="1200" dirty="0" smtClean="0"/>
          </a:p>
          <a:p>
            <a:r>
              <a:rPr lang="en-GB" sz="1200" dirty="0" smtClean="0"/>
              <a:t>Object is stationary and balanced in horizontal position.</a:t>
            </a:r>
            <a:endParaRPr lang="en-GB" sz="1200" dirty="0"/>
          </a:p>
          <a:p>
            <a:endParaRPr lang="en-GB" sz="1200" dirty="0" smtClean="0"/>
          </a:p>
          <a:p>
            <a:r>
              <a:rPr lang="en-GB" sz="1200" dirty="0" smtClean="0"/>
              <a:t>No change in yaw or roll, so those components aren’t considered.</a:t>
            </a:r>
            <a:endParaRPr lang="en-GB" sz="1200" dirty="0"/>
          </a:p>
          <a:p>
            <a:endParaRPr lang="en-GB" sz="1200" dirty="0" smtClean="0"/>
          </a:p>
          <a:p>
            <a:r>
              <a:rPr lang="en-GB" sz="1200" dirty="0" smtClean="0"/>
              <a:t>g = 9.81ms^-2</a:t>
            </a:r>
          </a:p>
          <a:p>
            <a:endParaRPr lang="en-GB" sz="1200" dirty="0" smtClean="0"/>
          </a:p>
          <a:p>
            <a:r>
              <a:rPr lang="en-GB" sz="1200" dirty="0" smtClean="0"/>
              <a:t>Coefficient of resistance = 1</a:t>
            </a:r>
          </a:p>
          <a:p>
            <a:endParaRPr lang="en-GB" sz="1200" dirty="0" smtClean="0"/>
          </a:p>
          <a:p>
            <a:r>
              <a:rPr lang="en-GB" sz="1200" dirty="0" smtClean="0"/>
              <a:t>Weight of objects are uniformly distributed. So centre of mass lies in the middle (d/2 m)</a:t>
            </a:r>
          </a:p>
          <a:p>
            <a:endParaRPr lang="en-GB" sz="1200" dirty="0"/>
          </a:p>
          <a:p>
            <a:r>
              <a:rPr lang="en-GB" sz="1200" dirty="0" smtClean="0"/>
              <a:t>Object slides right to the end of hollow vehicle.</a:t>
            </a:r>
          </a:p>
          <a:p>
            <a:endParaRPr lang="en-GB" sz="1200" dirty="0"/>
          </a:p>
          <a:p>
            <a:r>
              <a:rPr lang="en-GB" sz="1200" dirty="0" smtClean="0"/>
              <a:t>m= mass of hollow vehicle (kg)</a:t>
            </a:r>
          </a:p>
          <a:p>
            <a:r>
              <a:rPr lang="en-GB" sz="1200" dirty="0" smtClean="0"/>
              <a:t>M = mass of sliding object (kg)</a:t>
            </a:r>
          </a:p>
          <a:p>
            <a:r>
              <a:rPr lang="en-GB" sz="1200" dirty="0" smtClean="0"/>
              <a:t>R = Buoyancy</a:t>
            </a:r>
          </a:p>
          <a:p>
            <a:endParaRPr lang="en-GB" sz="1200" dirty="0"/>
          </a:p>
          <a:p>
            <a:r>
              <a:rPr lang="en-GB" sz="1200" dirty="0" smtClean="0"/>
              <a:t>Buoyancy balances out the mass of the submerged vehicle; therefore the sliding mass creates a force at the verse of tipping the vehicle over; however it is still balanced.</a:t>
            </a:r>
          </a:p>
        </p:txBody>
      </p:sp>
      <p:cxnSp>
        <p:nvCxnSpPr>
          <p:cNvPr id="19" name="Straight Arrow Connector 18"/>
          <p:cNvCxnSpPr/>
          <p:nvPr/>
        </p:nvCxnSpPr>
        <p:spPr>
          <a:xfrm>
            <a:off x="3114907" y="5519667"/>
            <a:ext cx="0" cy="729444"/>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5213876" y="2067311"/>
            <a:ext cx="2928779" cy="602673"/>
          </a:xfrm>
          <a:prstGeom prst="rect">
            <a:avLst/>
          </a:prstGeom>
          <a:noFill/>
          <a:ln w="508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p:cNvSpPr/>
          <p:nvPr/>
        </p:nvSpPr>
        <p:spPr>
          <a:xfrm>
            <a:off x="7459140" y="2311490"/>
            <a:ext cx="654096" cy="324204"/>
          </a:xfrm>
          <a:prstGeom prst="rect">
            <a:avLst/>
          </a:prstGeom>
          <a:solidFill>
            <a:srgbClr val="002060"/>
          </a:solidFill>
          <a:ln w="508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p:cNvSpPr/>
          <p:nvPr/>
        </p:nvSpPr>
        <p:spPr>
          <a:xfrm>
            <a:off x="6472525" y="2172255"/>
            <a:ext cx="411480" cy="392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Isosceles Triangle 22"/>
          <p:cNvSpPr/>
          <p:nvPr/>
        </p:nvSpPr>
        <p:spPr>
          <a:xfrm>
            <a:off x="6530929" y="2633218"/>
            <a:ext cx="320040" cy="42083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Arrow Connector 23"/>
          <p:cNvCxnSpPr/>
          <p:nvPr/>
        </p:nvCxnSpPr>
        <p:spPr>
          <a:xfrm>
            <a:off x="6690949" y="2669984"/>
            <a:ext cx="0" cy="729444"/>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472525" y="3279184"/>
            <a:ext cx="532788" cy="369332"/>
          </a:xfrm>
          <a:prstGeom prst="rect">
            <a:avLst/>
          </a:prstGeom>
          <a:noFill/>
        </p:spPr>
        <p:txBody>
          <a:bodyPr wrap="square" rtlCol="0">
            <a:spAutoFit/>
          </a:bodyPr>
          <a:lstStyle/>
          <a:p>
            <a:r>
              <a:rPr lang="en-GB" dirty="0" smtClean="0">
                <a:solidFill>
                  <a:srgbClr val="FF0000"/>
                </a:solidFill>
              </a:rPr>
              <a:t>mg</a:t>
            </a:r>
            <a:endParaRPr lang="en-GB" dirty="0">
              <a:solidFill>
                <a:srgbClr val="FF0000"/>
              </a:solidFill>
            </a:endParaRPr>
          </a:p>
        </p:txBody>
      </p:sp>
      <p:cxnSp>
        <p:nvCxnSpPr>
          <p:cNvPr id="26" name="Straight Arrow Connector 25"/>
          <p:cNvCxnSpPr/>
          <p:nvPr/>
        </p:nvCxnSpPr>
        <p:spPr>
          <a:xfrm flipH="1">
            <a:off x="7435493" y="2726109"/>
            <a:ext cx="438427" cy="908445"/>
          </a:xfrm>
          <a:prstGeom prst="straightConnector1">
            <a:avLst/>
          </a:prstGeom>
          <a:ln w="412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7501896" y="3470258"/>
            <a:ext cx="1135020" cy="369332"/>
          </a:xfrm>
          <a:prstGeom prst="rect">
            <a:avLst/>
          </a:prstGeom>
          <a:noFill/>
        </p:spPr>
        <p:txBody>
          <a:bodyPr wrap="square" rtlCol="0">
            <a:spAutoFit/>
          </a:bodyPr>
          <a:lstStyle/>
          <a:p>
            <a:r>
              <a:rPr lang="en-GB" dirty="0" smtClean="0">
                <a:solidFill>
                  <a:srgbClr val="00B050"/>
                </a:solidFill>
              </a:rPr>
              <a:t>Mg</a:t>
            </a:r>
            <a:endParaRPr lang="en-GB" dirty="0">
              <a:solidFill>
                <a:srgbClr val="00B050"/>
              </a:solidFill>
            </a:endParaRPr>
          </a:p>
        </p:txBody>
      </p:sp>
      <p:cxnSp>
        <p:nvCxnSpPr>
          <p:cNvPr id="28" name="Straight Connector 27"/>
          <p:cNvCxnSpPr>
            <a:stCxn id="27" idx="1"/>
            <a:endCxn id="23" idx="3"/>
          </p:cNvCxnSpPr>
          <p:nvPr/>
        </p:nvCxnSpPr>
        <p:spPr>
          <a:xfrm flipH="1" flipV="1">
            <a:off x="6690949" y="3054051"/>
            <a:ext cx="810947" cy="600873"/>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rot="17816185">
            <a:off x="7291983" y="3367317"/>
            <a:ext cx="196236" cy="2016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Pie 29"/>
          <p:cNvSpPr/>
          <p:nvPr/>
        </p:nvSpPr>
        <p:spPr>
          <a:xfrm>
            <a:off x="7522575" y="2647528"/>
            <a:ext cx="351345" cy="260813"/>
          </a:xfrm>
          <a:prstGeom prst="pie">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1" name="TextBox 30"/>
          <p:cNvSpPr txBox="1"/>
          <p:nvPr/>
        </p:nvSpPr>
        <p:spPr>
          <a:xfrm>
            <a:off x="7622526" y="2653870"/>
            <a:ext cx="230135" cy="261610"/>
          </a:xfrm>
          <a:prstGeom prst="rect">
            <a:avLst/>
          </a:prstGeom>
          <a:solidFill>
            <a:schemeClr val="bg1"/>
          </a:solidFill>
        </p:spPr>
        <p:txBody>
          <a:bodyPr wrap="square" rtlCol="0">
            <a:spAutoFit/>
          </a:bodyPr>
          <a:lstStyle/>
          <a:p>
            <a:r>
              <a:rPr lang="az-Cyrl-AZ" sz="1050" dirty="0" smtClean="0">
                <a:solidFill>
                  <a:srgbClr val="00B050"/>
                </a:solidFill>
                <a:latin typeface="Calibri" panose="020F0502020204030204" pitchFamily="34" charset="0"/>
                <a:cs typeface="Calibri" panose="020F0502020204030204" pitchFamily="34" charset="0"/>
              </a:rPr>
              <a:t>Ѳ</a:t>
            </a:r>
            <a:endParaRPr lang="en-GB" sz="1050" dirty="0">
              <a:solidFill>
                <a:srgbClr val="00B050"/>
              </a:solidFill>
            </a:endParaRPr>
          </a:p>
        </p:txBody>
      </p:sp>
      <p:cxnSp>
        <p:nvCxnSpPr>
          <p:cNvPr id="32" name="Straight Connector 31"/>
          <p:cNvCxnSpPr/>
          <p:nvPr/>
        </p:nvCxnSpPr>
        <p:spPr>
          <a:xfrm>
            <a:off x="5194218" y="734161"/>
            <a:ext cx="29484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6437803" y="360385"/>
            <a:ext cx="1091046" cy="369332"/>
          </a:xfrm>
          <a:prstGeom prst="rect">
            <a:avLst/>
          </a:prstGeom>
          <a:noFill/>
        </p:spPr>
        <p:txBody>
          <a:bodyPr wrap="square" rtlCol="0">
            <a:spAutoFit/>
          </a:bodyPr>
          <a:lstStyle/>
          <a:p>
            <a:r>
              <a:rPr lang="en-GB" dirty="0" smtClean="0"/>
              <a:t>d (m)</a:t>
            </a:r>
            <a:endParaRPr lang="en-GB" dirty="0"/>
          </a:p>
        </p:txBody>
      </p:sp>
      <p:sp>
        <p:nvSpPr>
          <p:cNvPr id="34" name="TextBox 33"/>
          <p:cNvSpPr txBox="1"/>
          <p:nvPr/>
        </p:nvSpPr>
        <p:spPr>
          <a:xfrm>
            <a:off x="307571" y="86543"/>
            <a:ext cx="3994265" cy="646331"/>
          </a:xfrm>
          <a:prstGeom prst="rect">
            <a:avLst/>
          </a:prstGeom>
          <a:noFill/>
        </p:spPr>
        <p:txBody>
          <a:bodyPr wrap="square" rtlCol="0">
            <a:spAutoFit/>
          </a:bodyPr>
          <a:lstStyle/>
          <a:p>
            <a:r>
              <a:rPr lang="en-GB" b="1" dirty="0" smtClean="0"/>
              <a:t>1) Model System as simple 2d object (no Yaw or Roll)</a:t>
            </a:r>
            <a:endParaRPr lang="en-GB" b="1" dirty="0"/>
          </a:p>
        </p:txBody>
      </p:sp>
      <p:sp>
        <p:nvSpPr>
          <p:cNvPr id="35" name="TextBox 34"/>
          <p:cNvSpPr txBox="1"/>
          <p:nvPr/>
        </p:nvSpPr>
        <p:spPr>
          <a:xfrm>
            <a:off x="309131" y="1801478"/>
            <a:ext cx="3994265" cy="369332"/>
          </a:xfrm>
          <a:prstGeom prst="rect">
            <a:avLst/>
          </a:prstGeom>
          <a:noFill/>
        </p:spPr>
        <p:txBody>
          <a:bodyPr wrap="square" rtlCol="0">
            <a:spAutoFit/>
          </a:bodyPr>
          <a:lstStyle/>
          <a:p>
            <a:r>
              <a:rPr lang="en-GB" b="1" dirty="0" smtClean="0"/>
              <a:t>2) Establish Pitch angle</a:t>
            </a:r>
            <a:endParaRPr lang="en-GB" b="1" dirty="0"/>
          </a:p>
        </p:txBody>
      </p:sp>
      <p:sp>
        <p:nvSpPr>
          <p:cNvPr id="36" name="TextBox 35"/>
          <p:cNvSpPr txBox="1"/>
          <p:nvPr/>
        </p:nvSpPr>
        <p:spPr>
          <a:xfrm>
            <a:off x="1828024" y="4036580"/>
            <a:ext cx="532788" cy="369332"/>
          </a:xfrm>
          <a:prstGeom prst="rect">
            <a:avLst/>
          </a:prstGeom>
          <a:noFill/>
        </p:spPr>
        <p:txBody>
          <a:bodyPr wrap="square" rtlCol="0">
            <a:spAutoFit/>
          </a:bodyPr>
          <a:lstStyle/>
          <a:p>
            <a:r>
              <a:rPr lang="en-GB" dirty="0">
                <a:solidFill>
                  <a:srgbClr val="FF0000"/>
                </a:solidFill>
              </a:rPr>
              <a:t>B</a:t>
            </a:r>
          </a:p>
        </p:txBody>
      </p:sp>
      <p:sp>
        <p:nvSpPr>
          <p:cNvPr id="37" name="TextBox 36"/>
          <p:cNvSpPr txBox="1"/>
          <p:nvPr/>
        </p:nvSpPr>
        <p:spPr>
          <a:xfrm>
            <a:off x="347692" y="3821957"/>
            <a:ext cx="3994265" cy="369332"/>
          </a:xfrm>
          <a:prstGeom prst="rect">
            <a:avLst/>
          </a:prstGeom>
          <a:noFill/>
        </p:spPr>
        <p:txBody>
          <a:bodyPr wrap="square" rtlCol="0">
            <a:spAutoFit/>
          </a:bodyPr>
          <a:lstStyle/>
          <a:p>
            <a:r>
              <a:rPr lang="en-GB" b="1" dirty="0" smtClean="0"/>
              <a:t>3) Model Forces</a:t>
            </a:r>
            <a:endParaRPr lang="en-GB" b="1" dirty="0"/>
          </a:p>
        </p:txBody>
      </p:sp>
      <p:sp>
        <p:nvSpPr>
          <p:cNvPr id="38" name="TextBox 37"/>
          <p:cNvSpPr txBox="1"/>
          <p:nvPr/>
        </p:nvSpPr>
        <p:spPr>
          <a:xfrm>
            <a:off x="5053656" y="89506"/>
            <a:ext cx="3994265" cy="646331"/>
          </a:xfrm>
          <a:prstGeom prst="rect">
            <a:avLst/>
          </a:prstGeom>
          <a:noFill/>
        </p:spPr>
        <p:txBody>
          <a:bodyPr wrap="square" rtlCol="0">
            <a:spAutoFit/>
          </a:bodyPr>
          <a:lstStyle/>
          <a:p>
            <a:r>
              <a:rPr lang="en-GB" b="1" dirty="0" smtClean="0"/>
              <a:t>4) Consider turning force for pitch angle</a:t>
            </a:r>
            <a:endParaRPr lang="az-Cyrl-AZ" b="1" dirty="0" smtClean="0"/>
          </a:p>
          <a:p>
            <a:r>
              <a:rPr lang="en-GB" b="1" dirty="0" smtClean="0"/>
              <a:t> </a:t>
            </a:r>
            <a:endParaRPr lang="en-GB" b="1" dirty="0"/>
          </a:p>
        </p:txBody>
      </p:sp>
      <p:cxnSp>
        <p:nvCxnSpPr>
          <p:cNvPr id="39" name="Straight Connector 38"/>
          <p:cNvCxnSpPr/>
          <p:nvPr/>
        </p:nvCxnSpPr>
        <p:spPr>
          <a:xfrm>
            <a:off x="5187732" y="725343"/>
            <a:ext cx="29484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5187732" y="1885659"/>
            <a:ext cx="14677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p:cNvSpPr txBox="1"/>
              <p:nvPr/>
            </p:nvSpPr>
            <p:spPr>
              <a:xfrm>
                <a:off x="5459433" y="1376459"/>
                <a:ext cx="1091046" cy="538737"/>
              </a:xfrm>
              <a:prstGeom prst="rect">
                <a:avLst/>
              </a:prstGeom>
              <a:noFill/>
            </p:spPr>
            <p:txBody>
              <a:bodyPr wrap="square" rtlCol="0">
                <a:spAutoFit/>
              </a:bodyPr>
              <a:lstStyle/>
              <a:p>
                <a14:m>
                  <m:oMath xmlns:m="http://schemas.openxmlformats.org/officeDocument/2006/math">
                    <m:f>
                      <m:fPr>
                        <m:ctrlPr>
                          <a:rPr lang="en-GB" b="1" i="1">
                            <a:latin typeface="Cambria Math" panose="02040503050406030204" pitchFamily="18" charset="0"/>
                          </a:rPr>
                        </m:ctrlPr>
                      </m:fPr>
                      <m:num>
                        <m:r>
                          <m:rPr>
                            <m:nor/>
                          </m:rPr>
                          <a:rPr lang="en-GB">
                            <a:latin typeface="Cambria Math" panose="02040503050406030204" pitchFamily="18" charset="0"/>
                          </a:rPr>
                          <m:t>d</m:t>
                        </m:r>
                      </m:num>
                      <m:den>
                        <m:r>
                          <m:rPr>
                            <m:nor/>
                          </m:rPr>
                          <a:rPr lang="en-GB" dirty="0"/>
                          <m:t>2</m:t>
                        </m:r>
                      </m:den>
                    </m:f>
                  </m:oMath>
                </a14:m>
                <a:r>
                  <a:rPr lang="en-GB" dirty="0" smtClean="0"/>
                  <a:t> (m)</a:t>
                </a:r>
                <a:endParaRPr lang="en-GB" dirty="0"/>
              </a:p>
            </p:txBody>
          </p:sp>
        </mc:Choice>
        <mc:Fallback xmlns="">
          <p:sp>
            <p:nvSpPr>
              <p:cNvPr id="41" name="TextBox 40"/>
              <p:cNvSpPr txBox="1">
                <a:spLocks noRot="1" noChangeAspect="1" noMove="1" noResize="1" noEditPoints="1" noAdjustHandles="1" noChangeArrowheads="1" noChangeShapeType="1" noTextEdit="1"/>
              </p:cNvSpPr>
              <p:nvPr/>
            </p:nvSpPr>
            <p:spPr>
              <a:xfrm>
                <a:off x="5459433" y="1376459"/>
                <a:ext cx="1091046" cy="538737"/>
              </a:xfrm>
              <a:prstGeom prst="rect">
                <a:avLst/>
              </a:prstGeom>
              <a:blipFill rotWithShape="0">
                <a:blip r:embed="rId2"/>
                <a:stretch>
                  <a:fillRect b="-7955"/>
                </a:stretch>
              </a:blipFill>
            </p:spPr>
            <p:txBody>
              <a:bodyPr/>
              <a:lstStyle/>
              <a:p>
                <a:r>
                  <a:rPr lang="en-GB">
                    <a:noFill/>
                  </a:rPr>
                  <a:t> </a:t>
                </a:r>
              </a:p>
            </p:txBody>
          </p:sp>
        </mc:Fallback>
      </mc:AlternateContent>
      <p:cxnSp>
        <p:nvCxnSpPr>
          <p:cNvPr id="42" name="Straight Connector 41"/>
          <p:cNvCxnSpPr/>
          <p:nvPr/>
        </p:nvCxnSpPr>
        <p:spPr>
          <a:xfrm>
            <a:off x="6639074" y="1647156"/>
            <a:ext cx="15035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p:cNvSpPr txBox="1"/>
              <p:nvPr/>
            </p:nvSpPr>
            <p:spPr>
              <a:xfrm>
                <a:off x="6894918" y="1122570"/>
                <a:ext cx="1199619" cy="538737"/>
              </a:xfrm>
              <a:prstGeom prst="rect">
                <a:avLst/>
              </a:prstGeom>
              <a:noFill/>
            </p:spPr>
            <p:txBody>
              <a:bodyPr wrap="square" rtlCol="0">
                <a:spAutoFit/>
              </a:bodyPr>
              <a:lstStyle/>
              <a:p>
                <a14:m>
                  <m:oMath xmlns:m="http://schemas.openxmlformats.org/officeDocument/2006/math">
                    <m:f>
                      <m:fPr>
                        <m:ctrlPr>
                          <a:rPr lang="en-GB" b="1" i="1">
                            <a:latin typeface="Cambria Math" panose="02040503050406030204" pitchFamily="18" charset="0"/>
                          </a:rPr>
                        </m:ctrlPr>
                      </m:fPr>
                      <m:num>
                        <m:r>
                          <m:rPr>
                            <m:nor/>
                          </m:rPr>
                          <a:rPr lang="en-GB">
                            <a:latin typeface="Cambria Math" panose="02040503050406030204" pitchFamily="18" charset="0"/>
                          </a:rPr>
                          <m:t>d</m:t>
                        </m:r>
                      </m:num>
                      <m:den>
                        <m:r>
                          <m:rPr>
                            <m:nor/>
                          </m:rPr>
                          <a:rPr lang="en-GB" dirty="0"/>
                          <m:t>2</m:t>
                        </m:r>
                      </m:den>
                    </m:f>
                  </m:oMath>
                </a14:m>
                <a:r>
                  <a:rPr lang="en-GB" dirty="0" smtClean="0"/>
                  <a:t> (m)</a:t>
                </a:r>
                <a:endParaRPr lang="en-GB" dirty="0"/>
              </a:p>
            </p:txBody>
          </p:sp>
        </mc:Choice>
        <mc:Fallback xmlns="">
          <p:sp>
            <p:nvSpPr>
              <p:cNvPr id="43" name="TextBox 42"/>
              <p:cNvSpPr txBox="1">
                <a:spLocks noRot="1" noChangeAspect="1" noMove="1" noResize="1" noEditPoints="1" noAdjustHandles="1" noChangeArrowheads="1" noChangeShapeType="1" noTextEdit="1"/>
              </p:cNvSpPr>
              <p:nvPr/>
            </p:nvSpPr>
            <p:spPr>
              <a:xfrm>
                <a:off x="6894918" y="1122570"/>
                <a:ext cx="1199619" cy="538737"/>
              </a:xfrm>
              <a:prstGeom prst="rect">
                <a:avLst/>
              </a:prstGeom>
              <a:blipFill rotWithShape="0">
                <a:blip r:embed="rId3"/>
                <a:stretch>
                  <a:fillRect b="-6742"/>
                </a:stretch>
              </a:blipFill>
            </p:spPr>
            <p:txBody>
              <a:bodyPr/>
              <a:lstStyle/>
              <a:p>
                <a:r>
                  <a:rPr lang="en-GB">
                    <a:noFill/>
                  </a:rPr>
                  <a:t> </a:t>
                </a:r>
              </a:p>
            </p:txBody>
          </p:sp>
        </mc:Fallback>
      </mc:AlternateContent>
      <p:cxnSp>
        <p:nvCxnSpPr>
          <p:cNvPr id="44" name="Straight Arrow Connector 43"/>
          <p:cNvCxnSpPr/>
          <p:nvPr/>
        </p:nvCxnSpPr>
        <p:spPr>
          <a:xfrm flipV="1">
            <a:off x="6661950" y="1116383"/>
            <a:ext cx="0" cy="1047054"/>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463287" y="748181"/>
            <a:ext cx="532788" cy="369332"/>
          </a:xfrm>
          <a:prstGeom prst="rect">
            <a:avLst/>
          </a:prstGeom>
          <a:noFill/>
        </p:spPr>
        <p:txBody>
          <a:bodyPr wrap="square" rtlCol="0">
            <a:spAutoFit/>
          </a:bodyPr>
          <a:lstStyle/>
          <a:p>
            <a:r>
              <a:rPr lang="en-GB" dirty="0" smtClean="0">
                <a:solidFill>
                  <a:srgbClr val="FF0000"/>
                </a:solidFill>
              </a:rPr>
              <a:t>B</a:t>
            </a:r>
            <a:endParaRPr lang="en-GB" dirty="0">
              <a:solidFill>
                <a:srgbClr val="FF0000"/>
              </a:solidFill>
            </a:endParaRPr>
          </a:p>
        </p:txBody>
      </p:sp>
      <p:sp>
        <p:nvSpPr>
          <p:cNvPr id="46" name="TextBox 45"/>
          <p:cNvSpPr txBox="1"/>
          <p:nvPr/>
        </p:nvSpPr>
        <p:spPr>
          <a:xfrm>
            <a:off x="7762453" y="2652510"/>
            <a:ext cx="1135020" cy="369332"/>
          </a:xfrm>
          <a:prstGeom prst="rect">
            <a:avLst/>
          </a:prstGeom>
          <a:noFill/>
        </p:spPr>
        <p:txBody>
          <a:bodyPr wrap="square" rtlCol="0">
            <a:spAutoFit/>
          </a:bodyPr>
          <a:lstStyle/>
          <a:p>
            <a:r>
              <a:rPr lang="en-GB" dirty="0" smtClean="0"/>
              <a:t>pitch</a:t>
            </a:r>
            <a:endParaRPr lang="en-GB" dirty="0"/>
          </a:p>
        </p:txBody>
      </p:sp>
      <p:cxnSp>
        <p:nvCxnSpPr>
          <p:cNvPr id="47" name="Straight Connector 46"/>
          <p:cNvCxnSpPr/>
          <p:nvPr/>
        </p:nvCxnSpPr>
        <p:spPr>
          <a:xfrm flipH="1">
            <a:off x="567435" y="2267748"/>
            <a:ext cx="2882064" cy="19766"/>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467773" y="2192912"/>
            <a:ext cx="277439" cy="369332"/>
          </a:xfrm>
          <a:prstGeom prst="rect">
            <a:avLst/>
          </a:prstGeom>
          <a:noFill/>
        </p:spPr>
        <p:txBody>
          <a:bodyPr wrap="square" rtlCol="0">
            <a:spAutoFit/>
          </a:bodyPr>
          <a:lstStyle/>
          <a:p>
            <a:r>
              <a:rPr lang="az-Cyrl-AZ" dirty="0" smtClean="0">
                <a:solidFill>
                  <a:srgbClr val="00B050"/>
                </a:solidFill>
                <a:latin typeface="Calibri" panose="020F0502020204030204" pitchFamily="34" charset="0"/>
                <a:cs typeface="Calibri" panose="020F0502020204030204" pitchFamily="34" charset="0"/>
              </a:rPr>
              <a:t>Ѳ</a:t>
            </a:r>
            <a:endParaRPr lang="en-GB" dirty="0">
              <a:solidFill>
                <a:srgbClr val="00B050"/>
              </a:solidFill>
            </a:endParaRPr>
          </a:p>
        </p:txBody>
      </p:sp>
      <p:sp>
        <p:nvSpPr>
          <p:cNvPr id="49" name="TextBox 48"/>
          <p:cNvSpPr txBox="1"/>
          <p:nvPr/>
        </p:nvSpPr>
        <p:spPr>
          <a:xfrm>
            <a:off x="2151270" y="2224446"/>
            <a:ext cx="2583358" cy="523220"/>
          </a:xfrm>
          <a:prstGeom prst="rect">
            <a:avLst/>
          </a:prstGeom>
          <a:noFill/>
        </p:spPr>
        <p:txBody>
          <a:bodyPr wrap="square" rtlCol="0">
            <a:spAutoFit/>
          </a:bodyPr>
          <a:lstStyle/>
          <a:p>
            <a:r>
              <a:rPr lang="en-GB" sz="1400" dirty="0"/>
              <a:t>P</a:t>
            </a:r>
            <a:r>
              <a:rPr lang="en-GB" sz="1400" dirty="0" smtClean="0"/>
              <a:t>itch angle corresponding to sliding object mass</a:t>
            </a:r>
            <a:endParaRPr lang="en-GB" sz="1400" dirty="0"/>
          </a:p>
        </p:txBody>
      </p:sp>
      <p:cxnSp>
        <p:nvCxnSpPr>
          <p:cNvPr id="50" name="Straight Arrow Connector 49"/>
          <p:cNvCxnSpPr/>
          <p:nvPr/>
        </p:nvCxnSpPr>
        <p:spPr>
          <a:xfrm>
            <a:off x="1718859" y="3019764"/>
            <a:ext cx="1544449" cy="39281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342264" y="3076469"/>
            <a:ext cx="1040130" cy="830997"/>
          </a:xfrm>
          <a:prstGeom prst="rect">
            <a:avLst/>
          </a:prstGeom>
          <a:noFill/>
        </p:spPr>
        <p:txBody>
          <a:bodyPr wrap="square" rtlCol="0">
            <a:spAutoFit/>
          </a:bodyPr>
          <a:lstStyle/>
          <a:p>
            <a:r>
              <a:rPr lang="en-GB" sz="1600" dirty="0" smtClean="0"/>
              <a:t>Max Distance travelled</a:t>
            </a:r>
            <a:endParaRPr lang="en-GB" sz="1600" dirty="0"/>
          </a:p>
        </p:txBody>
      </p:sp>
      <p:cxnSp>
        <p:nvCxnSpPr>
          <p:cNvPr id="52" name="Straight Connector 51"/>
          <p:cNvCxnSpPr/>
          <p:nvPr/>
        </p:nvCxnSpPr>
        <p:spPr>
          <a:xfrm>
            <a:off x="0" y="3844817"/>
            <a:ext cx="47486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8514" y="1600090"/>
            <a:ext cx="47486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4753437" y="0"/>
            <a:ext cx="791" cy="68437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1952034" y="4373901"/>
            <a:ext cx="0" cy="1047054"/>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2046562" y="4097751"/>
            <a:ext cx="1040130" cy="338554"/>
          </a:xfrm>
          <a:prstGeom prst="rect">
            <a:avLst/>
          </a:prstGeom>
          <a:noFill/>
        </p:spPr>
        <p:txBody>
          <a:bodyPr wrap="square" rtlCol="0">
            <a:spAutoFit/>
          </a:bodyPr>
          <a:lstStyle/>
          <a:p>
            <a:r>
              <a:rPr lang="en-GB" sz="1600" dirty="0" smtClean="0"/>
              <a:t>Buoyancy </a:t>
            </a:r>
            <a:endParaRPr lang="en-GB" sz="1600" dirty="0"/>
          </a:p>
        </p:txBody>
      </p:sp>
      <mc:AlternateContent xmlns:mc="http://schemas.openxmlformats.org/markup-compatibility/2006" xmlns:a14="http://schemas.microsoft.com/office/drawing/2010/main">
        <mc:Choice Requires="a14">
          <p:sp>
            <p:nvSpPr>
              <p:cNvPr id="57" name="TextBox 56"/>
              <p:cNvSpPr txBox="1"/>
              <p:nvPr/>
            </p:nvSpPr>
            <p:spPr>
              <a:xfrm>
                <a:off x="5204269" y="4157479"/>
                <a:ext cx="3994265" cy="1731115"/>
              </a:xfrm>
              <a:prstGeom prst="rect">
                <a:avLst/>
              </a:prstGeom>
              <a:noFill/>
            </p:spPr>
            <p:txBody>
              <a:bodyPr wrap="square" rtlCol="0">
                <a:spAutoFit/>
              </a:bodyPr>
              <a:lstStyle/>
              <a:p>
                <a:r>
                  <a:rPr lang="en-GB" sz="1600" b="1" dirty="0" smtClean="0">
                    <a:latin typeface="Calibri" panose="020F0502020204030204" pitchFamily="34" charset="0"/>
                    <a:cs typeface="Calibri" panose="020F0502020204030204" pitchFamily="34" charset="0"/>
                  </a:rPr>
                  <a:t>Using Pythagoras Theorem:</a:t>
                </a:r>
              </a:p>
              <a:p>
                <a:r>
                  <a:rPr lang="az-Cyrl-AZ" sz="1600" dirty="0" smtClean="0">
                    <a:latin typeface="Calibri" panose="020F0502020204030204" pitchFamily="34" charset="0"/>
                    <a:cs typeface="Calibri" panose="020F0502020204030204" pitchFamily="34" charset="0"/>
                  </a:rPr>
                  <a:t>Ѳ</a:t>
                </a:r>
                <a:r>
                  <a:rPr lang="en-GB" sz="1600" dirty="0" smtClean="0"/>
                  <a:t> = arcCos[Mg/(</a:t>
                </a:r>
                <a14:m>
                  <m:oMath xmlns:m="http://schemas.openxmlformats.org/officeDocument/2006/math">
                    <m:f>
                      <m:fPr>
                        <m:ctrlPr>
                          <a:rPr lang="en-GB" sz="1600" b="1" i="1">
                            <a:latin typeface="Cambria Math" panose="02040503050406030204" pitchFamily="18" charset="0"/>
                          </a:rPr>
                        </m:ctrlPr>
                      </m:fPr>
                      <m:num>
                        <m:r>
                          <m:rPr>
                            <m:nor/>
                          </m:rPr>
                          <a:rPr lang="en-GB" sz="1600">
                            <a:latin typeface="Cambria Math" panose="02040503050406030204" pitchFamily="18" charset="0"/>
                          </a:rPr>
                          <m:t>d</m:t>
                        </m:r>
                      </m:num>
                      <m:den>
                        <m:r>
                          <m:rPr>
                            <m:nor/>
                          </m:rPr>
                          <a:rPr lang="en-GB" sz="1600" dirty="0"/>
                          <m:t>2</m:t>
                        </m:r>
                      </m:den>
                    </m:f>
                  </m:oMath>
                </a14:m>
                <a:r>
                  <a:rPr lang="en-GB" sz="1600" dirty="0" smtClean="0"/>
                  <a:t>)]</a:t>
                </a:r>
              </a:p>
              <a:p>
                <a:r>
                  <a:rPr lang="en-GB" dirty="0" smtClean="0"/>
                  <a:t>Rearranged: </a:t>
                </a:r>
              </a:p>
              <a:p>
                <a:r>
                  <a:rPr lang="en-GB" sz="1600" dirty="0" smtClean="0"/>
                  <a:t>d = </a:t>
                </a:r>
                <a14:m>
                  <m:oMath xmlns:m="http://schemas.openxmlformats.org/officeDocument/2006/math">
                    <m:f>
                      <m:fPr>
                        <m:ctrlPr>
                          <a:rPr lang="en-GB" sz="1600" b="1" i="1">
                            <a:latin typeface="Cambria Math" panose="02040503050406030204" pitchFamily="18" charset="0"/>
                          </a:rPr>
                        </m:ctrlPr>
                      </m:fPr>
                      <m:num>
                        <m:r>
                          <a:rPr lang="en-GB" sz="1600" b="1" i="1" smtClean="0">
                            <a:latin typeface="Cambria Math" panose="02040503050406030204" pitchFamily="18" charset="0"/>
                          </a:rPr>
                          <m:t>𝟐</m:t>
                        </m:r>
                        <m:r>
                          <m:rPr>
                            <m:nor/>
                          </m:rPr>
                          <a:rPr lang="en-GB" sz="1600" b="0" i="0" smtClean="0">
                            <a:latin typeface="Cambria Math" panose="02040503050406030204" pitchFamily="18" charset="0"/>
                          </a:rPr>
                          <m:t>M</m:t>
                        </m:r>
                        <m:r>
                          <m:rPr>
                            <m:nor/>
                          </m:rPr>
                          <a:rPr lang="en-GB" sz="1600" b="0" i="0" smtClean="0">
                            <a:latin typeface="Cambria Math" panose="02040503050406030204" pitchFamily="18" charset="0"/>
                          </a:rPr>
                          <m:t> </m:t>
                        </m:r>
                        <m:r>
                          <m:rPr>
                            <m:nor/>
                          </m:rPr>
                          <a:rPr lang="en-GB" sz="1600" b="0" i="0" smtClean="0">
                            <a:latin typeface="Cambria Math" panose="02040503050406030204" pitchFamily="18" charset="0"/>
                          </a:rPr>
                          <m:t>g</m:t>
                        </m:r>
                      </m:num>
                      <m:den>
                        <m:r>
                          <m:rPr>
                            <m:nor/>
                          </m:rPr>
                          <a:rPr lang="en-GB" sz="1600" b="0" i="0" smtClean="0">
                            <a:latin typeface="Cambria Math" panose="02040503050406030204" pitchFamily="18" charset="0"/>
                          </a:rPr>
                          <m:t>cos</m:t>
                        </m:r>
                        <m:r>
                          <m:rPr>
                            <m:nor/>
                          </m:rPr>
                          <a:rPr lang="en-GB" sz="1600" b="0" i="0" smtClean="0">
                            <a:latin typeface="Cambria Math" panose="02040503050406030204" pitchFamily="18" charset="0"/>
                          </a:rPr>
                          <m:t>(</m:t>
                        </m:r>
                        <m:r>
                          <m:rPr>
                            <m:nor/>
                          </m:rPr>
                          <a:rPr lang="az-Cyrl-AZ" sz="1600" dirty="0">
                            <a:latin typeface="Calibri" panose="020F0502020204030204" pitchFamily="34" charset="0"/>
                            <a:cs typeface="Calibri" panose="020F0502020204030204" pitchFamily="34" charset="0"/>
                          </a:rPr>
                          <m:t>Ѳ</m:t>
                        </m:r>
                        <m:r>
                          <m:rPr>
                            <m:nor/>
                          </m:rPr>
                          <a:rPr lang="en-GB" sz="1600" b="0" i="0" smtClean="0">
                            <a:latin typeface="Cambria Math" panose="02040503050406030204" pitchFamily="18" charset="0"/>
                          </a:rPr>
                          <m:t>)</m:t>
                        </m:r>
                      </m:den>
                    </m:f>
                    <m:r>
                      <a:rPr lang="en-GB" sz="1600" b="0" i="1" dirty="0" smtClean="0">
                        <a:latin typeface="Cambria Math" panose="02040503050406030204" pitchFamily="18" charset="0"/>
                      </a:rPr>
                      <m:t> </m:t>
                    </m:r>
                  </m:oMath>
                </a14:m>
                <a:r>
                  <a:rPr lang="en-GB" dirty="0" smtClean="0"/>
                  <a:t>	</a:t>
                </a:r>
                <a:r>
                  <a:rPr lang="en-GB" b="1" dirty="0" smtClean="0">
                    <a:solidFill>
                      <a:srgbClr val="FFC000"/>
                    </a:solidFill>
                  </a:rPr>
                  <a:t>Final</a:t>
                </a:r>
                <a:endParaRPr lang="az-Cyrl-AZ" b="1" dirty="0" smtClean="0">
                  <a:solidFill>
                    <a:srgbClr val="FFC000"/>
                  </a:solidFill>
                </a:endParaRPr>
              </a:p>
              <a:p>
                <a:r>
                  <a:rPr lang="en-GB" b="1" dirty="0" smtClean="0"/>
                  <a:t> </a:t>
                </a:r>
                <a:endParaRPr lang="en-GB" b="1" dirty="0"/>
              </a:p>
            </p:txBody>
          </p:sp>
        </mc:Choice>
        <mc:Fallback xmlns="">
          <p:sp>
            <p:nvSpPr>
              <p:cNvPr id="57" name="TextBox 56"/>
              <p:cNvSpPr txBox="1">
                <a:spLocks noRot="1" noChangeAspect="1" noMove="1" noResize="1" noEditPoints="1" noAdjustHandles="1" noChangeArrowheads="1" noChangeShapeType="1" noTextEdit="1"/>
              </p:cNvSpPr>
              <p:nvPr/>
            </p:nvSpPr>
            <p:spPr>
              <a:xfrm>
                <a:off x="5204269" y="4157479"/>
                <a:ext cx="3994265" cy="1731115"/>
              </a:xfrm>
              <a:prstGeom prst="rect">
                <a:avLst/>
              </a:prstGeom>
              <a:blipFill rotWithShape="0">
                <a:blip r:embed="rId4"/>
                <a:stretch>
                  <a:fillRect l="-1374" t="-1056"/>
                </a:stretch>
              </a:blipFill>
            </p:spPr>
            <p:txBody>
              <a:bodyPr/>
              <a:lstStyle/>
              <a:p>
                <a:r>
                  <a:rPr lang="en-GB">
                    <a:noFill/>
                  </a:rPr>
                  <a:t> </a:t>
                </a:r>
              </a:p>
            </p:txBody>
          </p:sp>
        </mc:Fallback>
      </mc:AlternateContent>
      <p:sp>
        <p:nvSpPr>
          <p:cNvPr id="58" name="TextBox 57"/>
          <p:cNvSpPr txBox="1"/>
          <p:nvPr/>
        </p:nvSpPr>
        <p:spPr>
          <a:xfrm>
            <a:off x="4781407" y="5587838"/>
            <a:ext cx="4789363" cy="1123384"/>
          </a:xfrm>
          <a:prstGeom prst="rect">
            <a:avLst/>
          </a:prstGeom>
          <a:noFill/>
        </p:spPr>
        <p:txBody>
          <a:bodyPr wrap="square" rtlCol="0">
            <a:spAutoFit/>
          </a:bodyPr>
          <a:lstStyle/>
          <a:p>
            <a:r>
              <a:rPr lang="en-GB" sz="1100" dirty="0" smtClean="0">
                <a:latin typeface="Calibri" panose="020F0502020204030204" pitchFamily="34" charset="0"/>
                <a:cs typeface="Calibri" panose="020F0502020204030204" pitchFamily="34" charset="0"/>
              </a:rPr>
              <a:t>d = total length of submerged vehicle</a:t>
            </a:r>
          </a:p>
          <a:p>
            <a:endParaRPr lang="en-GB" sz="1100" dirty="0" smtClean="0"/>
          </a:p>
          <a:p>
            <a:r>
              <a:rPr lang="en-GB" sz="1100" dirty="0" smtClean="0"/>
              <a:t>m = mass of the submerged vehicle (kg)            M = mass of the sliding vehicle (kg)</a:t>
            </a:r>
          </a:p>
          <a:p>
            <a:endParaRPr lang="en-GB" sz="1100" dirty="0" smtClean="0"/>
          </a:p>
          <a:p>
            <a:r>
              <a:rPr lang="en-GB" sz="1100" dirty="0" smtClean="0"/>
              <a:t>B = Buoyancy 				   </a:t>
            </a:r>
            <a:r>
              <a:rPr lang="az-Cyrl-AZ" sz="1100" dirty="0" smtClean="0">
                <a:latin typeface="Calibri" panose="020F0502020204030204" pitchFamily="34" charset="0"/>
                <a:cs typeface="Calibri" panose="020F0502020204030204" pitchFamily="34" charset="0"/>
              </a:rPr>
              <a:t>Ѳ</a:t>
            </a:r>
            <a:r>
              <a:rPr lang="en-GB" sz="1100" dirty="0" smtClean="0">
                <a:latin typeface="Calibri" panose="020F0502020204030204" pitchFamily="34" charset="0"/>
                <a:cs typeface="Calibri" panose="020F0502020204030204" pitchFamily="34" charset="0"/>
              </a:rPr>
              <a:t> = Pitch angle</a:t>
            </a:r>
            <a:endParaRPr lang="az-Cyrl-AZ" sz="1100" b="1" dirty="0" smtClean="0"/>
          </a:p>
          <a:p>
            <a:r>
              <a:rPr lang="en-GB" sz="1200" b="1" dirty="0" smtClean="0"/>
              <a:t> </a:t>
            </a:r>
            <a:endParaRPr lang="en-GB" sz="1200" b="1" dirty="0"/>
          </a:p>
        </p:txBody>
      </p:sp>
      <p:sp>
        <p:nvSpPr>
          <p:cNvPr id="59" name="Rectangle 58"/>
          <p:cNvSpPr/>
          <p:nvPr/>
        </p:nvSpPr>
        <p:spPr>
          <a:xfrm>
            <a:off x="4832033" y="3821957"/>
            <a:ext cx="4738737" cy="3021765"/>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p:cNvSpPr/>
          <p:nvPr/>
        </p:nvSpPr>
        <p:spPr>
          <a:xfrm>
            <a:off x="5213876" y="5096751"/>
            <a:ext cx="1791437" cy="491087"/>
          </a:xfrm>
          <a:prstGeom prst="rect">
            <a:avLst/>
          </a:prstGeom>
          <a:noFill/>
          <a:ln w="412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ight Triangle 60"/>
          <p:cNvSpPr/>
          <p:nvPr/>
        </p:nvSpPr>
        <p:spPr>
          <a:xfrm>
            <a:off x="8602302" y="2508687"/>
            <a:ext cx="836693" cy="936133"/>
          </a:xfrm>
          <a:prstGeom prst="rtTriangle">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TextBox 61"/>
          <p:cNvSpPr txBox="1"/>
          <p:nvPr/>
        </p:nvSpPr>
        <p:spPr>
          <a:xfrm>
            <a:off x="8749631" y="3399257"/>
            <a:ext cx="1135020" cy="307777"/>
          </a:xfrm>
          <a:prstGeom prst="rect">
            <a:avLst/>
          </a:prstGeom>
          <a:noFill/>
        </p:spPr>
        <p:txBody>
          <a:bodyPr wrap="square" rtlCol="0">
            <a:spAutoFit/>
          </a:bodyPr>
          <a:lstStyle/>
          <a:p>
            <a:r>
              <a:rPr lang="en-GB" sz="1400" dirty="0" smtClean="0">
                <a:solidFill>
                  <a:srgbClr val="00B050"/>
                </a:solidFill>
              </a:rPr>
              <a:t>Mg</a:t>
            </a:r>
            <a:endParaRPr lang="en-GB" sz="1400" dirty="0">
              <a:solidFill>
                <a:srgbClr val="00B050"/>
              </a:solidFill>
            </a:endParaRPr>
          </a:p>
        </p:txBody>
      </p:sp>
      <mc:AlternateContent xmlns:mc="http://schemas.openxmlformats.org/markup-compatibility/2006" xmlns:a14="http://schemas.microsoft.com/office/drawing/2010/main">
        <mc:Choice Requires="a14">
          <p:sp>
            <p:nvSpPr>
              <p:cNvPr id="63" name="TextBox 62"/>
              <p:cNvSpPr txBox="1"/>
              <p:nvPr/>
            </p:nvSpPr>
            <p:spPr>
              <a:xfrm>
                <a:off x="8962382" y="2539294"/>
                <a:ext cx="1135020" cy="439544"/>
              </a:xfrm>
              <a:prstGeom prst="rect">
                <a:avLst/>
              </a:prstGeom>
              <a:noFill/>
            </p:spPr>
            <p:txBody>
              <a:bodyPr wrap="square" rtlCol="0">
                <a:spAutoFit/>
              </a:bodyPr>
              <a:lstStyle/>
              <a:p>
                <a14:m>
                  <m:oMath xmlns:m="http://schemas.openxmlformats.org/officeDocument/2006/math">
                    <m:f>
                      <m:fPr>
                        <m:ctrlPr>
                          <a:rPr lang="en-GB" sz="1400" b="1" i="1" smtClean="0">
                            <a:solidFill>
                              <a:srgbClr val="00B050"/>
                            </a:solidFill>
                            <a:latin typeface="Cambria Math" panose="02040503050406030204" pitchFamily="18" charset="0"/>
                          </a:rPr>
                        </m:ctrlPr>
                      </m:fPr>
                      <m:num>
                        <m:r>
                          <m:rPr>
                            <m:nor/>
                          </m:rPr>
                          <a:rPr lang="en-GB" sz="1400">
                            <a:solidFill>
                              <a:srgbClr val="00B050"/>
                            </a:solidFill>
                            <a:latin typeface="Cambria Math" panose="02040503050406030204" pitchFamily="18" charset="0"/>
                          </a:rPr>
                          <m:t>d</m:t>
                        </m:r>
                      </m:num>
                      <m:den>
                        <m:r>
                          <m:rPr>
                            <m:nor/>
                          </m:rPr>
                          <a:rPr lang="en-GB" sz="1400" dirty="0">
                            <a:solidFill>
                              <a:srgbClr val="00B050"/>
                            </a:solidFill>
                          </a:rPr>
                          <m:t>2</m:t>
                        </m:r>
                      </m:den>
                    </m:f>
                  </m:oMath>
                </a14:m>
                <a:r>
                  <a:rPr lang="en-GB" sz="1400" dirty="0">
                    <a:solidFill>
                      <a:srgbClr val="00B050"/>
                    </a:solidFill>
                  </a:rPr>
                  <a:t> </a:t>
                </a:r>
                <a:r>
                  <a:rPr lang="en-GB" sz="1400" dirty="0" smtClean="0">
                    <a:solidFill>
                      <a:srgbClr val="00B050"/>
                    </a:solidFill>
                  </a:rPr>
                  <a:t> </a:t>
                </a:r>
                <a:endParaRPr lang="en-GB" sz="1400" dirty="0">
                  <a:solidFill>
                    <a:srgbClr val="00B050"/>
                  </a:solidFill>
                </a:endParaRPr>
              </a:p>
            </p:txBody>
          </p:sp>
        </mc:Choice>
        <mc:Fallback xmlns="">
          <p:sp>
            <p:nvSpPr>
              <p:cNvPr id="63" name="TextBox 62"/>
              <p:cNvSpPr txBox="1">
                <a:spLocks noRot="1" noChangeAspect="1" noMove="1" noResize="1" noEditPoints="1" noAdjustHandles="1" noChangeArrowheads="1" noChangeShapeType="1" noTextEdit="1"/>
              </p:cNvSpPr>
              <p:nvPr/>
            </p:nvSpPr>
            <p:spPr>
              <a:xfrm>
                <a:off x="8962382" y="2539294"/>
                <a:ext cx="1135020" cy="439544"/>
              </a:xfrm>
              <a:prstGeom prst="rect">
                <a:avLst/>
              </a:prstGeom>
              <a:blipFill rotWithShape="0">
                <a:blip r:embed="rId5"/>
                <a:stretch>
                  <a:fillRect b="-2778"/>
                </a:stretch>
              </a:blipFill>
            </p:spPr>
            <p:txBody>
              <a:bodyPr/>
              <a:lstStyle/>
              <a:p>
                <a:r>
                  <a:rPr lang="en-GB">
                    <a:noFill/>
                  </a:rPr>
                  <a:t> </a:t>
                </a:r>
              </a:p>
            </p:txBody>
          </p:sp>
        </mc:Fallback>
      </mc:AlternateContent>
      <p:sp>
        <p:nvSpPr>
          <p:cNvPr id="64" name="TextBox 63"/>
          <p:cNvSpPr txBox="1"/>
          <p:nvPr/>
        </p:nvSpPr>
        <p:spPr>
          <a:xfrm>
            <a:off x="9067266" y="3152279"/>
            <a:ext cx="277439" cy="369332"/>
          </a:xfrm>
          <a:prstGeom prst="rect">
            <a:avLst/>
          </a:prstGeom>
          <a:noFill/>
        </p:spPr>
        <p:txBody>
          <a:bodyPr wrap="square" rtlCol="0">
            <a:spAutoFit/>
          </a:bodyPr>
          <a:lstStyle/>
          <a:p>
            <a:r>
              <a:rPr lang="az-Cyrl-AZ" dirty="0" smtClean="0">
                <a:solidFill>
                  <a:srgbClr val="00B050"/>
                </a:solidFill>
                <a:latin typeface="Calibri" panose="020F0502020204030204" pitchFamily="34" charset="0"/>
                <a:cs typeface="Calibri" panose="020F0502020204030204" pitchFamily="34" charset="0"/>
              </a:rPr>
              <a:t>Ѳ</a:t>
            </a:r>
            <a:endParaRPr lang="en-GB" dirty="0">
              <a:solidFill>
                <a:srgbClr val="00B050"/>
              </a:solidFill>
            </a:endParaRPr>
          </a:p>
        </p:txBody>
      </p:sp>
      <p:sp>
        <p:nvSpPr>
          <p:cNvPr id="65" name="TextBox 64"/>
          <p:cNvSpPr txBox="1"/>
          <p:nvPr/>
        </p:nvSpPr>
        <p:spPr>
          <a:xfrm>
            <a:off x="4852318" y="2747666"/>
            <a:ext cx="1585485" cy="1077218"/>
          </a:xfrm>
          <a:prstGeom prst="rect">
            <a:avLst/>
          </a:prstGeom>
          <a:noFill/>
        </p:spPr>
        <p:txBody>
          <a:bodyPr wrap="square" rtlCol="0">
            <a:spAutoFit/>
          </a:bodyPr>
          <a:lstStyle/>
          <a:p>
            <a:r>
              <a:rPr lang="en-GB" sz="1600" dirty="0" smtClean="0"/>
              <a:t>If mass of vehicle (mg) balances buoyancy (B):</a:t>
            </a:r>
            <a:endParaRPr lang="en-GB" sz="1600" dirty="0"/>
          </a:p>
        </p:txBody>
      </p:sp>
      <p:sp>
        <p:nvSpPr>
          <p:cNvPr id="128" name="Rectangle 127"/>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79386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08074"/>
            <a:ext cx="9646920" cy="5256728"/>
          </a:xfrm>
          <a:ln w="12700">
            <a:solidFill>
              <a:schemeClr val="tx1"/>
            </a:solidFill>
          </a:ln>
        </p:spPr>
        <p:txBody>
          <a:bodyPr>
            <a:normAutofit lnSpcReduction="10000"/>
          </a:bodyPr>
          <a:lstStyle/>
          <a:p>
            <a:r>
              <a:rPr lang="en-GB" sz="1800" dirty="0" smtClean="0"/>
              <a:t>Coefficient of resistance not taken into account; value given for model = 1 to assume smooth surface. </a:t>
            </a:r>
            <a:r>
              <a:rPr lang="en-GB" sz="1800" dirty="0" smtClean="0">
                <a:solidFill>
                  <a:srgbClr val="00B050"/>
                </a:solidFill>
              </a:rPr>
              <a:t>A path with less resistance could be achieved by mounting small wheels or assigning the moving mass to a confined cable set up. </a:t>
            </a:r>
            <a:endParaRPr lang="en-GB" sz="1800" dirty="0" smtClean="0">
              <a:solidFill>
                <a:srgbClr val="FF0000"/>
              </a:solidFill>
            </a:endParaRPr>
          </a:p>
          <a:p>
            <a:endParaRPr lang="en-GB" sz="1800" dirty="0" smtClean="0"/>
          </a:p>
          <a:p>
            <a:r>
              <a:rPr lang="en-GB" sz="1800" dirty="0" smtClean="0"/>
              <a:t>Weight of vehicle assumed to be uniformly distributed; this is likely to be not the case.                          </a:t>
            </a:r>
            <a:r>
              <a:rPr lang="en-GB" sz="1800" dirty="0" smtClean="0">
                <a:solidFill>
                  <a:srgbClr val="00B050"/>
                </a:solidFill>
              </a:rPr>
              <a:t>Upon modelling the exact value of the vehicle, a more realistic position for the centre of mass would be located, along with additional forces that may tip the vehicle.</a:t>
            </a:r>
          </a:p>
          <a:p>
            <a:endParaRPr lang="en-GB" sz="1800" dirty="0"/>
          </a:p>
          <a:p>
            <a:r>
              <a:rPr lang="en-GB" sz="1800" dirty="0" smtClean="0"/>
              <a:t>No change in Yaw or Roll. </a:t>
            </a:r>
            <a:r>
              <a:rPr lang="en-GB" sz="1800" dirty="0" smtClean="0">
                <a:solidFill>
                  <a:srgbClr val="00B050"/>
                </a:solidFill>
              </a:rPr>
              <a:t>This could be realistically achieved with Gyroscope and motors for stability. Small minor change in acceleration in those directions activates mini turbines which stabilise vehicle.</a:t>
            </a:r>
          </a:p>
          <a:p>
            <a:endParaRPr lang="en-GB" sz="1800" dirty="0" smtClean="0">
              <a:solidFill>
                <a:srgbClr val="00B050"/>
              </a:solidFill>
            </a:endParaRPr>
          </a:p>
          <a:p>
            <a:r>
              <a:rPr lang="en-GB" sz="1800" dirty="0" smtClean="0"/>
              <a:t>Potential collisions with marine life, plants and rubbish in oceans. </a:t>
            </a:r>
            <a:r>
              <a:rPr lang="en-GB" sz="1800" dirty="0" smtClean="0">
                <a:solidFill>
                  <a:srgbClr val="00B050"/>
                </a:solidFill>
              </a:rPr>
              <a:t>Image recognition software and ultrasonic sensors. To recognise these object and detect the distance between these objects.</a:t>
            </a:r>
            <a:endParaRPr lang="en-GB" sz="1800" dirty="0" smtClean="0">
              <a:solidFill>
                <a:srgbClr val="FF0000"/>
              </a:solidFill>
            </a:endParaRPr>
          </a:p>
          <a:p>
            <a:endParaRPr lang="en-GB" sz="1800" dirty="0" smtClean="0">
              <a:solidFill>
                <a:srgbClr val="FF0000"/>
              </a:solidFill>
            </a:endParaRPr>
          </a:p>
          <a:p>
            <a:r>
              <a:rPr lang="en-GB" sz="1800" dirty="0" smtClean="0"/>
              <a:t>No consideration to the compression or expansion of air in the vehicle. 		                           </a:t>
            </a:r>
            <a:r>
              <a:rPr lang="en-GB" sz="1800" dirty="0" smtClean="0">
                <a:solidFill>
                  <a:srgbClr val="00B050"/>
                </a:solidFill>
              </a:rPr>
              <a:t>Could be solved with the use of air cylinders that regulate air flow in response to actuators. If compressed air is being measured using a “</a:t>
            </a:r>
            <a:r>
              <a:rPr lang="en-GB" sz="1800" dirty="0"/>
              <a:t>The MAF (mass air flow) </a:t>
            </a:r>
            <a:r>
              <a:rPr lang="en-GB" sz="1800" dirty="0" smtClean="0"/>
              <a:t>sensor”</a:t>
            </a:r>
            <a:endParaRPr lang="en-GB" sz="1800" dirty="0">
              <a:solidFill>
                <a:srgbClr val="FF0000"/>
              </a:solidFill>
            </a:endParaRPr>
          </a:p>
          <a:p>
            <a:endParaRPr lang="en-GB" sz="1800" dirty="0"/>
          </a:p>
        </p:txBody>
      </p:sp>
      <p:sp>
        <p:nvSpPr>
          <p:cNvPr id="5" name="TextBox 4"/>
          <p:cNvSpPr txBox="1"/>
          <p:nvPr/>
        </p:nvSpPr>
        <p:spPr>
          <a:xfrm>
            <a:off x="9798627" y="801822"/>
            <a:ext cx="2393373" cy="5262979"/>
          </a:xfrm>
          <a:prstGeom prst="rect">
            <a:avLst/>
          </a:prstGeom>
          <a:solidFill>
            <a:schemeClr val="bg1"/>
          </a:solidFill>
          <a:ln>
            <a:solidFill>
              <a:schemeClr val="tx1"/>
            </a:solidFill>
          </a:ln>
        </p:spPr>
        <p:txBody>
          <a:bodyPr wrap="square" rtlCol="0">
            <a:spAutoFit/>
          </a:bodyPr>
          <a:lstStyle/>
          <a:p>
            <a:r>
              <a:rPr lang="en-GB" sz="1200" dirty="0" smtClean="0"/>
              <a:t>Assumptions:</a:t>
            </a:r>
          </a:p>
          <a:p>
            <a:endParaRPr lang="en-GB" sz="1200" dirty="0" smtClean="0"/>
          </a:p>
          <a:p>
            <a:r>
              <a:rPr lang="en-GB" sz="1200" dirty="0" smtClean="0"/>
              <a:t>Object is stationary and balanced in horizontal position.</a:t>
            </a:r>
            <a:endParaRPr lang="en-GB" sz="1200" dirty="0"/>
          </a:p>
          <a:p>
            <a:endParaRPr lang="en-GB" sz="1200" dirty="0" smtClean="0"/>
          </a:p>
          <a:p>
            <a:r>
              <a:rPr lang="en-GB" sz="1200" dirty="0" smtClean="0"/>
              <a:t>No change in yaw or roll</a:t>
            </a:r>
            <a:endParaRPr lang="en-GB" sz="1200" dirty="0"/>
          </a:p>
          <a:p>
            <a:endParaRPr lang="en-GB" sz="1200" dirty="0" smtClean="0"/>
          </a:p>
          <a:p>
            <a:r>
              <a:rPr lang="en-GB" sz="1200" dirty="0" smtClean="0"/>
              <a:t>g = 9.81ms^-2</a:t>
            </a:r>
          </a:p>
          <a:p>
            <a:endParaRPr lang="en-GB" sz="1200" dirty="0" smtClean="0"/>
          </a:p>
          <a:p>
            <a:r>
              <a:rPr lang="en-GB" sz="1200" dirty="0" smtClean="0"/>
              <a:t>Coefficient of resistance = 1; assuming smooth surface.</a:t>
            </a:r>
          </a:p>
          <a:p>
            <a:endParaRPr lang="en-GB" sz="1200" dirty="0" smtClean="0"/>
          </a:p>
          <a:p>
            <a:r>
              <a:rPr lang="en-GB" sz="1200" dirty="0" smtClean="0"/>
              <a:t>Weight of objects are uniformly distributed. So centre of mass lies in the middle (d/2 m)</a:t>
            </a:r>
          </a:p>
          <a:p>
            <a:endParaRPr lang="en-GB" sz="1200" dirty="0"/>
          </a:p>
          <a:p>
            <a:r>
              <a:rPr lang="en-GB" sz="1200" dirty="0" smtClean="0"/>
              <a:t>Object slides right to the end of hollow vehicle.</a:t>
            </a:r>
          </a:p>
          <a:p>
            <a:endParaRPr lang="en-GB" sz="1200" dirty="0"/>
          </a:p>
          <a:p>
            <a:r>
              <a:rPr lang="en-GB" sz="1200" dirty="0" smtClean="0"/>
              <a:t>m= mass of hollow vehicle (kg)</a:t>
            </a:r>
          </a:p>
          <a:p>
            <a:r>
              <a:rPr lang="en-GB" sz="1200" dirty="0" smtClean="0"/>
              <a:t>M = mass of sliding object (kg)</a:t>
            </a:r>
          </a:p>
          <a:p>
            <a:r>
              <a:rPr lang="en-GB" sz="1200" dirty="0" smtClean="0"/>
              <a:t>R = Buoyancy</a:t>
            </a:r>
          </a:p>
          <a:p>
            <a:endParaRPr lang="en-GB" sz="1200" dirty="0"/>
          </a:p>
          <a:p>
            <a:r>
              <a:rPr lang="en-GB" sz="1200" dirty="0" smtClean="0"/>
              <a:t>Buoyancy balances out the mass of the submerged vehicle; therefore the sliding mass creates a force at the verse of tipping the vehicle over; however it is still balanced.</a:t>
            </a:r>
          </a:p>
        </p:txBody>
      </p:sp>
      <p:sp>
        <p:nvSpPr>
          <p:cNvPr id="6" name="Title 1"/>
          <p:cNvSpPr>
            <a:spLocks noGrp="1"/>
          </p:cNvSpPr>
          <p:nvPr>
            <p:ph type="title"/>
          </p:nvPr>
        </p:nvSpPr>
        <p:spPr>
          <a:xfrm>
            <a:off x="0" y="-411480"/>
            <a:ext cx="12192000" cy="1325563"/>
          </a:xfrm>
        </p:spPr>
        <p:txBody>
          <a:bodyPr>
            <a:normAutofit/>
          </a:bodyPr>
          <a:lstStyle/>
          <a:p>
            <a:pPr algn="ctr"/>
            <a:r>
              <a:rPr lang="en-GB" sz="2800" b="1" dirty="0"/>
              <a:t>Additional Variables and Assumptions (Solutions to model with greater accuracy) </a:t>
            </a:r>
          </a:p>
        </p:txBody>
      </p:sp>
      <p:sp>
        <p:nvSpPr>
          <p:cNvPr id="7" name="Rectangle 6"/>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45417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11480"/>
            <a:ext cx="10515600" cy="1325563"/>
          </a:xfrm>
        </p:spPr>
        <p:txBody>
          <a:bodyPr>
            <a:normAutofit/>
          </a:bodyPr>
          <a:lstStyle/>
          <a:p>
            <a:pPr algn="ctr"/>
            <a:r>
              <a:rPr lang="en-GB" sz="2800" b="1" dirty="0" smtClean="0"/>
              <a:t>Architecture</a:t>
            </a:r>
            <a:endParaRPr lang="en-GB" sz="3600" b="1" dirty="0"/>
          </a:p>
        </p:txBody>
      </p:sp>
      <p:sp>
        <p:nvSpPr>
          <p:cNvPr id="3" name="Content Placeholder 2"/>
          <p:cNvSpPr>
            <a:spLocks noGrp="1"/>
          </p:cNvSpPr>
          <p:nvPr>
            <p:ph idx="1"/>
          </p:nvPr>
        </p:nvSpPr>
        <p:spPr>
          <a:xfrm>
            <a:off x="374073" y="1420379"/>
            <a:ext cx="10692245" cy="4793383"/>
          </a:xfrm>
          <a:ln>
            <a:solidFill>
              <a:schemeClr val="tx1"/>
            </a:solidFill>
          </a:ln>
        </p:spPr>
        <p:txBody>
          <a:bodyPr>
            <a:normAutofit fontScale="62500" lnSpcReduction="20000"/>
          </a:bodyPr>
          <a:lstStyle/>
          <a:p>
            <a:r>
              <a:rPr lang="en-GB" sz="3200" dirty="0" smtClean="0"/>
              <a:t>Arm cortex m4 with wireless connection to raspberry pie 4, Linux interface (possibly Ubuntu).</a:t>
            </a:r>
          </a:p>
          <a:p>
            <a:pPr>
              <a:spcAft>
                <a:spcPts val="0"/>
              </a:spcAft>
            </a:pPr>
            <a:endParaRPr lang="en-GB" sz="3200" kern="50" dirty="0" smtClean="0">
              <a:ea typeface="SimSun" panose="02010600030101010101" pitchFamily="2" charset="-122"/>
              <a:cs typeface="Mangal"/>
            </a:endParaRPr>
          </a:p>
          <a:p>
            <a:pPr>
              <a:spcAft>
                <a:spcPts val="0"/>
              </a:spcAft>
            </a:pPr>
            <a:r>
              <a:rPr lang="en-GB" sz="3200" kern="50" dirty="0" smtClean="0">
                <a:ea typeface="SimSun" panose="02010600030101010101" pitchFamily="2" charset="-122"/>
                <a:cs typeface="Mangal"/>
              </a:rPr>
              <a:t>Calculations </a:t>
            </a:r>
            <a:r>
              <a:rPr lang="en-GB" sz="3200" kern="50" dirty="0">
                <a:ea typeface="SimSun" panose="02010600030101010101" pitchFamily="2" charset="-122"/>
                <a:cs typeface="Mangal"/>
              </a:rPr>
              <a:t>for pitch angle can be done on Cortex M4. </a:t>
            </a:r>
          </a:p>
          <a:p>
            <a:pPr>
              <a:spcAft>
                <a:spcPts val="0"/>
              </a:spcAft>
            </a:pPr>
            <a:endParaRPr lang="en-GB" sz="3200" kern="50" dirty="0">
              <a:latin typeface="Times New Roman" panose="02020603050405020304" pitchFamily="18" charset="0"/>
              <a:ea typeface="SimSun" panose="02010600030101010101" pitchFamily="2" charset="-122"/>
              <a:cs typeface="Mangal"/>
            </a:endParaRPr>
          </a:p>
          <a:p>
            <a:pPr>
              <a:spcAft>
                <a:spcPts val="0"/>
              </a:spcAft>
            </a:pPr>
            <a:r>
              <a:rPr lang="en-GB" sz="3200" kern="50" dirty="0">
                <a:latin typeface="Times New Roman" panose="02020603050405020304" pitchFamily="18" charset="0"/>
                <a:ea typeface="SimSun" panose="02010600030101010101" pitchFamily="2" charset="-122"/>
                <a:cs typeface="Mangal"/>
              </a:rPr>
              <a:t>Data from seismometer can be processed on cortex m4 and placed in an array before transfer to raspberry pie </a:t>
            </a:r>
            <a:r>
              <a:rPr lang="en-GB" sz="3200" kern="50" dirty="0" smtClean="0">
                <a:latin typeface="Times New Roman" panose="02020603050405020304" pitchFamily="18" charset="0"/>
                <a:ea typeface="SimSun" panose="02010600030101010101" pitchFamily="2" charset="-122"/>
                <a:cs typeface="Mangal"/>
              </a:rPr>
              <a:t>4, for logging data and interpretation.</a:t>
            </a:r>
            <a:endParaRPr lang="en-GB" sz="3200" dirty="0" smtClean="0"/>
          </a:p>
          <a:p>
            <a:endParaRPr lang="en-GB" sz="3200" dirty="0" smtClean="0"/>
          </a:p>
          <a:p>
            <a:r>
              <a:rPr lang="en-GB" sz="3200" dirty="0" smtClean="0"/>
              <a:t>M4 programs gyroscope to maintain stability.</a:t>
            </a:r>
          </a:p>
          <a:p>
            <a:r>
              <a:rPr lang="en-GB" sz="3200" dirty="0" smtClean="0"/>
              <a:t>M4 also deals with ultrasonic sensor, mounted in submerged vehicle, to monitor the distance the sliding object moves.</a:t>
            </a:r>
          </a:p>
          <a:p>
            <a:pPr>
              <a:spcAft>
                <a:spcPts val="0"/>
              </a:spcAft>
            </a:pPr>
            <a:r>
              <a:rPr lang="en-GB" sz="3200" kern="50" dirty="0" smtClean="0">
                <a:ea typeface="SimSun" panose="02010600030101010101" pitchFamily="2" charset="-122"/>
                <a:cs typeface="Mangal"/>
              </a:rPr>
              <a:t>M4 Stores </a:t>
            </a:r>
            <a:r>
              <a:rPr lang="en-GB" sz="3200" kern="50" dirty="0">
                <a:ea typeface="SimSun" panose="02010600030101010101" pitchFamily="2" charset="-122"/>
                <a:cs typeface="Mangal"/>
              </a:rPr>
              <a:t>array for </a:t>
            </a:r>
            <a:r>
              <a:rPr lang="en-GB" sz="3200" kern="50" dirty="0" smtClean="0">
                <a:ea typeface="SimSun" panose="02010600030101010101" pitchFamily="2" charset="-122"/>
                <a:cs typeface="Mangal"/>
              </a:rPr>
              <a:t>calculated pitch angles, </a:t>
            </a:r>
            <a:r>
              <a:rPr lang="en-GB" sz="3200" kern="50" dirty="0">
                <a:ea typeface="SimSun" panose="02010600030101010101" pitchFamily="2" charset="-122"/>
                <a:cs typeface="Mangal"/>
              </a:rPr>
              <a:t>for </a:t>
            </a:r>
            <a:r>
              <a:rPr lang="en-GB" sz="3200" kern="50" dirty="0" smtClean="0">
                <a:ea typeface="SimSun" panose="02010600030101010101" pitchFamily="2" charset="-122"/>
                <a:cs typeface="Mangal"/>
              </a:rPr>
              <a:t>the different </a:t>
            </a:r>
            <a:r>
              <a:rPr lang="en-GB" sz="3200" kern="50" dirty="0">
                <a:ea typeface="SimSun" panose="02010600030101010101" pitchFamily="2" charset="-122"/>
                <a:cs typeface="Mangal"/>
              </a:rPr>
              <a:t>moving distances.</a:t>
            </a:r>
          </a:p>
          <a:p>
            <a:pPr>
              <a:spcAft>
                <a:spcPts val="0"/>
              </a:spcAft>
            </a:pPr>
            <a:endParaRPr lang="en-GB" sz="3200" kern="50" dirty="0">
              <a:latin typeface="Times New Roman" panose="02020603050405020304" pitchFamily="18" charset="0"/>
              <a:ea typeface="SimSun" panose="02010600030101010101" pitchFamily="2" charset="-122"/>
              <a:cs typeface="Mangal"/>
            </a:endParaRPr>
          </a:p>
          <a:p>
            <a:pPr>
              <a:spcAft>
                <a:spcPts val="0"/>
              </a:spcAft>
            </a:pPr>
            <a:r>
              <a:rPr lang="en-GB" sz="3200" kern="50" dirty="0" smtClean="0">
                <a:latin typeface="Times New Roman" panose="02020603050405020304" pitchFamily="18" charset="0"/>
                <a:ea typeface="SimSun" panose="02010600030101010101" pitchFamily="2" charset="-122"/>
                <a:cs typeface="Mangal"/>
              </a:rPr>
              <a:t>M4 stores </a:t>
            </a:r>
            <a:r>
              <a:rPr lang="en-GB" sz="3200" kern="50" dirty="0">
                <a:latin typeface="Times New Roman" panose="02020603050405020304" pitchFamily="18" charset="0"/>
                <a:ea typeface="SimSun" panose="02010600030101010101" pitchFamily="2" charset="-122"/>
                <a:cs typeface="Mangal"/>
              </a:rPr>
              <a:t>values from seismometer for corresponding pitch angles obtained (this can be interpreted later to find the angle the system works most efficiently for different </a:t>
            </a:r>
            <a:r>
              <a:rPr lang="en-GB" sz="3200" kern="50" dirty="0" smtClean="0">
                <a:latin typeface="Times New Roman" panose="02020603050405020304" pitchFamily="18" charset="0"/>
                <a:ea typeface="SimSun" panose="02010600030101010101" pitchFamily="2" charset="-122"/>
                <a:cs typeface="Mangal"/>
              </a:rPr>
              <a:t>depths </a:t>
            </a:r>
            <a:r>
              <a:rPr lang="en-GB" sz="3200" kern="50" dirty="0">
                <a:latin typeface="Times New Roman" panose="02020603050405020304" pitchFamily="18" charset="0"/>
                <a:ea typeface="SimSun" panose="02010600030101010101" pitchFamily="2" charset="-122"/>
                <a:cs typeface="Mangal"/>
              </a:rPr>
              <a:t>the submerged vehicle travels under).</a:t>
            </a:r>
            <a:endParaRPr lang="en-GB" sz="4500" kern="50" dirty="0">
              <a:latin typeface="Times New Roman" panose="02020603050405020304" pitchFamily="18" charset="0"/>
              <a:ea typeface="SimSun" panose="02010600030101010101" pitchFamily="2" charset="-122"/>
              <a:cs typeface="Mangal"/>
            </a:endParaRPr>
          </a:p>
          <a:p>
            <a:endParaRPr lang="en-GB" dirty="0"/>
          </a:p>
        </p:txBody>
      </p:sp>
      <p:sp>
        <p:nvSpPr>
          <p:cNvPr id="4" name="Rectangle 3"/>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38960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9"/>
          <p:cNvSpPr txBox="1"/>
          <p:nvPr/>
        </p:nvSpPr>
        <p:spPr>
          <a:xfrm>
            <a:off x="5842820" y="2751426"/>
            <a:ext cx="781050" cy="44767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GB" sz="1000" kern="50">
                <a:ln>
                  <a:noFill/>
                </a:ln>
                <a:effectLst/>
                <a:ea typeface="SimSun" panose="02010600030101010101" pitchFamily="2" charset="-122"/>
                <a:cs typeface="Mangal"/>
              </a:rPr>
              <a:t>FEEDBACK</a:t>
            </a:r>
            <a:endParaRPr lang="en-GB" sz="1200" kern="50">
              <a:effectLst/>
              <a:latin typeface="Times New Roman" panose="02020603050405020304" pitchFamily="18" charset="0"/>
              <a:ea typeface="SimSun" panose="02010600030101010101" pitchFamily="2" charset="-122"/>
              <a:cs typeface="Mangal"/>
            </a:endParaRPr>
          </a:p>
          <a:p>
            <a:pPr>
              <a:spcAft>
                <a:spcPts val="0"/>
              </a:spcAft>
            </a:pPr>
            <a:r>
              <a:rPr lang="en-GB" sz="1000" kern="50">
                <a:ln>
                  <a:noFill/>
                </a:ln>
                <a:effectLst/>
                <a:ea typeface="SimSun" panose="02010600030101010101" pitchFamily="2" charset="-122"/>
                <a:cs typeface="Mangal"/>
              </a:rPr>
              <a:t>SIGNAL</a:t>
            </a:r>
            <a:endParaRPr lang="en-GB" sz="1200" kern="50">
              <a:effectLst/>
              <a:latin typeface="Times New Roman" panose="02020603050405020304" pitchFamily="18" charset="0"/>
              <a:ea typeface="SimSun" panose="02010600030101010101" pitchFamily="2" charset="-122"/>
              <a:cs typeface="Mangal"/>
            </a:endParaRPr>
          </a:p>
        </p:txBody>
      </p:sp>
      <p:sp>
        <p:nvSpPr>
          <p:cNvPr id="5" name="Text Box 67"/>
          <p:cNvSpPr txBox="1"/>
          <p:nvPr/>
        </p:nvSpPr>
        <p:spPr>
          <a:xfrm>
            <a:off x="5785670" y="1970376"/>
            <a:ext cx="533400" cy="24765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GB" sz="1000" kern="50">
                <a:ln>
                  <a:noFill/>
                </a:ln>
                <a:effectLst/>
                <a:ea typeface="SimSun" panose="02010600030101010101" pitchFamily="2" charset="-122"/>
                <a:cs typeface="Mangal"/>
              </a:rPr>
              <a:t>INPUT</a:t>
            </a:r>
            <a:endParaRPr lang="en-GB" sz="1200" kern="50">
              <a:effectLst/>
              <a:latin typeface="Times New Roman" panose="02020603050405020304" pitchFamily="18" charset="0"/>
              <a:ea typeface="SimSun" panose="02010600030101010101" pitchFamily="2" charset="-122"/>
              <a:cs typeface="Mangal"/>
            </a:endParaRPr>
          </a:p>
        </p:txBody>
      </p:sp>
      <p:sp>
        <p:nvSpPr>
          <p:cNvPr id="7" name="Rounded Rectangle 6"/>
          <p:cNvSpPr/>
          <p:nvPr/>
        </p:nvSpPr>
        <p:spPr>
          <a:xfrm>
            <a:off x="10336080" y="2023716"/>
            <a:ext cx="1285240" cy="885825"/>
          </a:xfrm>
          <a:prstGeom prst="roundRect">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1200" kern="50" dirty="0" smtClean="0">
                <a:effectLst/>
                <a:latin typeface="Times New Roman" panose="02020603050405020304" pitchFamily="18" charset="0"/>
                <a:ea typeface="SimSun" panose="02010600030101010101" pitchFamily="2" charset="-122"/>
                <a:cs typeface="Mangal"/>
              </a:rPr>
              <a:t>Database</a:t>
            </a:r>
            <a:endParaRPr lang="en-GB" sz="1200" kern="50" dirty="0">
              <a:effectLst/>
              <a:latin typeface="Times New Roman" panose="02020603050405020304" pitchFamily="18" charset="0"/>
              <a:ea typeface="SimSun" panose="02010600030101010101" pitchFamily="2" charset="-122"/>
              <a:cs typeface="Mangal"/>
            </a:endParaRPr>
          </a:p>
        </p:txBody>
      </p:sp>
      <p:sp>
        <p:nvSpPr>
          <p:cNvPr id="8" name="Rectangle 7"/>
          <p:cNvSpPr/>
          <p:nvPr/>
        </p:nvSpPr>
        <p:spPr>
          <a:xfrm rot="5400000">
            <a:off x="-429001" y="2589476"/>
            <a:ext cx="1490980" cy="276225"/>
          </a:xfrm>
          <a:prstGeom prst="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1200" kern="50">
                <a:solidFill>
                  <a:srgbClr val="000000"/>
                </a:solidFill>
                <a:effectLst/>
                <a:latin typeface="Times New Roman" panose="02020603050405020304" pitchFamily="18" charset="0"/>
                <a:ea typeface="SimSun" panose="02010600030101010101" pitchFamily="2" charset="-122"/>
                <a:cs typeface="Mangal"/>
              </a:rPr>
              <a:t>Environment</a:t>
            </a:r>
            <a:endParaRPr lang="en-GB" sz="1200" kern="50">
              <a:effectLst/>
              <a:latin typeface="Times New Roman" panose="02020603050405020304" pitchFamily="18" charset="0"/>
              <a:ea typeface="SimSun" panose="02010600030101010101" pitchFamily="2" charset="-122"/>
              <a:cs typeface="Mangal"/>
            </a:endParaRPr>
          </a:p>
        </p:txBody>
      </p:sp>
      <p:sp>
        <p:nvSpPr>
          <p:cNvPr id="9" name="Text Box 9"/>
          <p:cNvSpPr txBox="1"/>
          <p:nvPr/>
        </p:nvSpPr>
        <p:spPr>
          <a:xfrm>
            <a:off x="86954" y="730250"/>
            <a:ext cx="1052195" cy="1000125"/>
          </a:xfrm>
          <a:prstGeom prst="rect">
            <a:avLst/>
          </a:prstGeom>
          <a:solidFill>
            <a:schemeClr val="lt1"/>
          </a:solid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GB" sz="1000" kern="50" dirty="0">
                <a:ln>
                  <a:noFill/>
                </a:ln>
                <a:solidFill>
                  <a:srgbClr val="2E74B5"/>
                </a:solidFill>
                <a:effectLst/>
                <a:ea typeface="SimSun" panose="02010600030101010101" pitchFamily="2" charset="-122"/>
                <a:cs typeface="Mangal"/>
              </a:rPr>
              <a:t>Environmental Data Sent to be processed</a:t>
            </a:r>
            <a:endParaRPr lang="en-GB" sz="1200" kern="50" dirty="0">
              <a:effectLst/>
              <a:latin typeface="Times New Roman" panose="02020603050405020304" pitchFamily="18" charset="0"/>
              <a:ea typeface="SimSun" panose="02010600030101010101" pitchFamily="2" charset="-122"/>
              <a:cs typeface="Mangal"/>
            </a:endParaRPr>
          </a:p>
          <a:p>
            <a:pPr>
              <a:spcAft>
                <a:spcPts val="0"/>
              </a:spcAft>
            </a:pPr>
            <a:r>
              <a:rPr lang="en-GB" sz="1000" kern="50" dirty="0">
                <a:ln>
                  <a:noFill/>
                </a:ln>
                <a:solidFill>
                  <a:srgbClr val="2E74B5"/>
                </a:solidFill>
                <a:effectLst/>
                <a:ea typeface="SimSun" panose="02010600030101010101" pitchFamily="2" charset="-122"/>
                <a:cs typeface="Mangal"/>
              </a:rPr>
              <a:t>(Image and returning Photons)</a:t>
            </a:r>
            <a:endParaRPr lang="en-GB" sz="1200" kern="50" dirty="0">
              <a:effectLst/>
              <a:latin typeface="Times New Roman" panose="02020603050405020304" pitchFamily="18" charset="0"/>
              <a:ea typeface="SimSun" panose="02010600030101010101" pitchFamily="2" charset="-122"/>
              <a:cs typeface="Mangal"/>
            </a:endParaRPr>
          </a:p>
        </p:txBody>
      </p:sp>
      <p:sp>
        <p:nvSpPr>
          <p:cNvPr id="10" name="Rectangle 9"/>
          <p:cNvSpPr/>
          <p:nvPr/>
        </p:nvSpPr>
        <p:spPr>
          <a:xfrm>
            <a:off x="7426510" y="2207231"/>
            <a:ext cx="1828800" cy="267335"/>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1000" kern="50">
                <a:solidFill>
                  <a:srgbClr val="000000"/>
                </a:solidFill>
                <a:effectLst/>
                <a:ea typeface="SimSun" panose="02010600030101010101" pitchFamily="2" charset="-122"/>
                <a:cs typeface="Mangal"/>
              </a:rPr>
              <a:t>Ros System </a:t>
            </a:r>
            <a:endParaRPr lang="en-GB" sz="1200" kern="50">
              <a:effectLst/>
              <a:latin typeface="Times New Roman" panose="02020603050405020304" pitchFamily="18" charset="0"/>
              <a:ea typeface="SimSun" panose="02010600030101010101" pitchFamily="2" charset="-122"/>
              <a:cs typeface="Mangal"/>
            </a:endParaRPr>
          </a:p>
        </p:txBody>
      </p:sp>
      <p:sp>
        <p:nvSpPr>
          <p:cNvPr id="14" name="Rectangle 13"/>
          <p:cNvSpPr/>
          <p:nvPr/>
        </p:nvSpPr>
        <p:spPr>
          <a:xfrm>
            <a:off x="6649270" y="3225714"/>
            <a:ext cx="989965" cy="81851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5" name="Rectangle 14"/>
          <p:cNvSpPr/>
          <p:nvPr/>
        </p:nvSpPr>
        <p:spPr>
          <a:xfrm>
            <a:off x="8935905" y="3122901"/>
            <a:ext cx="989965" cy="81851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8" name="Rounded Rectangle 17"/>
          <p:cNvSpPr/>
          <p:nvPr/>
        </p:nvSpPr>
        <p:spPr>
          <a:xfrm>
            <a:off x="4804595" y="1730375"/>
            <a:ext cx="752475" cy="238125"/>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900" kern="50">
                <a:effectLst/>
                <a:ea typeface="SimSun" panose="02010600030101010101" pitchFamily="2" charset="-122"/>
                <a:cs typeface="Mangal"/>
              </a:rPr>
              <a:t>LIDAR </a:t>
            </a:r>
            <a:endParaRPr lang="en-GB" sz="1200" kern="50">
              <a:effectLst/>
              <a:latin typeface="Times New Roman" panose="02020603050405020304" pitchFamily="18" charset="0"/>
              <a:ea typeface="SimSun" panose="02010600030101010101" pitchFamily="2" charset="-122"/>
              <a:cs typeface="Mangal"/>
            </a:endParaRPr>
          </a:p>
        </p:txBody>
      </p:sp>
      <p:pic>
        <p:nvPicPr>
          <p:cNvPr id="20" name="Picture 19"/>
          <p:cNvPicPr/>
          <p:nvPr/>
        </p:nvPicPr>
        <p:blipFill>
          <a:blip r:embed="rId2">
            <a:extLst>
              <a:ext uri="{28A0092B-C50C-407E-A947-70E740481C1C}">
                <a14:useLocalDpi xmlns:a14="http://schemas.microsoft.com/office/drawing/2010/main" val="0"/>
              </a:ext>
            </a:extLst>
          </a:blip>
          <a:stretch>
            <a:fillRect/>
          </a:stretch>
        </p:blipFill>
        <p:spPr>
          <a:xfrm>
            <a:off x="6223185" y="2037051"/>
            <a:ext cx="561975" cy="505460"/>
          </a:xfrm>
          <a:prstGeom prst="rect">
            <a:avLst/>
          </a:prstGeom>
        </p:spPr>
      </p:pic>
      <p:cxnSp>
        <p:nvCxnSpPr>
          <p:cNvPr id="21" name="Straight Arrow Connector 20"/>
          <p:cNvCxnSpPr/>
          <p:nvPr/>
        </p:nvCxnSpPr>
        <p:spPr>
          <a:xfrm flipV="1">
            <a:off x="6471470" y="2494251"/>
            <a:ext cx="0" cy="1057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557070" y="2256126"/>
            <a:ext cx="7143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6728645" y="2265651"/>
            <a:ext cx="6286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9261660" y="2341851"/>
            <a:ext cx="10191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 Box 68"/>
          <p:cNvSpPr txBox="1"/>
          <p:nvPr/>
        </p:nvSpPr>
        <p:spPr>
          <a:xfrm>
            <a:off x="6694672" y="1796385"/>
            <a:ext cx="704850" cy="40005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GB" sz="1000" kern="50" dirty="0">
                <a:ln>
                  <a:noFill/>
                </a:ln>
                <a:effectLst/>
                <a:ea typeface="SimSun" panose="02010600030101010101" pitchFamily="2" charset="-122"/>
                <a:cs typeface="Mangal"/>
              </a:rPr>
              <a:t>ERROR </a:t>
            </a:r>
            <a:endParaRPr lang="en-GB" sz="1200" kern="50" dirty="0">
              <a:effectLst/>
              <a:latin typeface="Times New Roman" panose="02020603050405020304" pitchFamily="18" charset="0"/>
              <a:ea typeface="SimSun" panose="02010600030101010101" pitchFamily="2" charset="-122"/>
              <a:cs typeface="Mangal"/>
            </a:endParaRPr>
          </a:p>
          <a:p>
            <a:pPr>
              <a:spcAft>
                <a:spcPts val="0"/>
              </a:spcAft>
            </a:pPr>
            <a:r>
              <a:rPr lang="en-GB" sz="1000" kern="50" dirty="0">
                <a:ln>
                  <a:noFill/>
                </a:ln>
                <a:effectLst/>
                <a:ea typeface="SimSun" panose="02010600030101010101" pitchFamily="2" charset="-122"/>
                <a:cs typeface="Mangal"/>
              </a:rPr>
              <a:t>SIGNAL</a:t>
            </a:r>
            <a:endParaRPr lang="en-GB" sz="1200" kern="50" dirty="0">
              <a:effectLst/>
              <a:latin typeface="Times New Roman" panose="02020603050405020304" pitchFamily="18" charset="0"/>
              <a:ea typeface="SimSun" panose="02010600030101010101" pitchFamily="2" charset="-122"/>
              <a:cs typeface="Mangal"/>
            </a:endParaRPr>
          </a:p>
        </p:txBody>
      </p:sp>
      <p:sp>
        <p:nvSpPr>
          <p:cNvPr id="26" name="Text Box 27"/>
          <p:cNvSpPr txBox="1"/>
          <p:nvPr/>
        </p:nvSpPr>
        <p:spPr>
          <a:xfrm>
            <a:off x="6688971" y="2611728"/>
            <a:ext cx="977900" cy="59055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GB" sz="1000" kern="50" dirty="0">
                <a:ln>
                  <a:noFill/>
                </a:ln>
                <a:solidFill>
                  <a:srgbClr val="FF0000"/>
                </a:solidFill>
                <a:effectLst/>
                <a:ea typeface="SimSun" panose="02010600030101010101" pitchFamily="2" charset="-122"/>
                <a:cs typeface="Mangal"/>
              </a:rPr>
              <a:t>Navigation and Path Planning</a:t>
            </a:r>
            <a:endParaRPr lang="en-GB" sz="1200" kern="50" dirty="0">
              <a:effectLst/>
              <a:latin typeface="Times New Roman" panose="02020603050405020304" pitchFamily="18" charset="0"/>
              <a:ea typeface="SimSun" panose="02010600030101010101" pitchFamily="2" charset="-122"/>
              <a:cs typeface="Mangal"/>
            </a:endParaRPr>
          </a:p>
          <a:p>
            <a:pPr>
              <a:spcAft>
                <a:spcPts val="0"/>
              </a:spcAft>
            </a:pPr>
            <a:r>
              <a:rPr lang="en-GB" sz="1000" kern="50" dirty="0">
                <a:ln>
                  <a:noFill/>
                </a:ln>
                <a:solidFill>
                  <a:srgbClr val="FF0000"/>
                </a:solidFill>
                <a:effectLst/>
                <a:ea typeface="SimSun" panose="02010600030101010101" pitchFamily="2" charset="-122"/>
                <a:cs typeface="Mangal"/>
              </a:rPr>
              <a:t>Module</a:t>
            </a:r>
            <a:endParaRPr lang="en-GB" sz="1200" kern="50" dirty="0">
              <a:effectLst/>
              <a:latin typeface="Times New Roman" panose="02020603050405020304" pitchFamily="18" charset="0"/>
              <a:ea typeface="SimSun" panose="02010600030101010101" pitchFamily="2" charset="-122"/>
              <a:cs typeface="Mangal"/>
            </a:endParaRPr>
          </a:p>
        </p:txBody>
      </p:sp>
      <p:sp>
        <p:nvSpPr>
          <p:cNvPr id="28" name="Rectangle 27"/>
          <p:cNvSpPr/>
          <p:nvPr/>
        </p:nvSpPr>
        <p:spPr>
          <a:xfrm>
            <a:off x="6654985" y="3254492"/>
            <a:ext cx="914400" cy="21463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800" kern="50">
                <a:solidFill>
                  <a:srgbClr val="000000"/>
                </a:solidFill>
                <a:effectLst/>
                <a:ea typeface="SimSun" panose="02010600030101010101" pitchFamily="2" charset="-122"/>
                <a:cs typeface="Mangal"/>
              </a:rPr>
              <a:t>Navigation</a:t>
            </a:r>
            <a:endParaRPr lang="en-GB" sz="1200" kern="50">
              <a:effectLst/>
              <a:latin typeface="Times New Roman" panose="02020603050405020304" pitchFamily="18" charset="0"/>
              <a:ea typeface="SimSun" panose="02010600030101010101" pitchFamily="2" charset="-122"/>
              <a:cs typeface="Mangal"/>
            </a:endParaRPr>
          </a:p>
        </p:txBody>
      </p:sp>
      <p:sp>
        <p:nvSpPr>
          <p:cNvPr id="33" name="Text Box 26"/>
          <p:cNvSpPr txBox="1"/>
          <p:nvPr/>
        </p:nvSpPr>
        <p:spPr>
          <a:xfrm>
            <a:off x="8798109" y="2694479"/>
            <a:ext cx="1376681" cy="40005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GB" sz="1000" kern="50" dirty="0" smtClean="0">
                <a:ln>
                  <a:noFill/>
                </a:ln>
                <a:solidFill>
                  <a:srgbClr val="FF0000"/>
                </a:solidFill>
                <a:effectLst/>
                <a:ea typeface="SimSun" panose="02010600030101010101" pitchFamily="2" charset="-122"/>
                <a:cs typeface="Mangal"/>
              </a:rPr>
              <a:t>Stabilisation module for gyroscope</a:t>
            </a:r>
            <a:endParaRPr lang="en-GB" sz="1200" kern="50" dirty="0">
              <a:effectLst/>
              <a:latin typeface="Times New Roman" panose="02020603050405020304" pitchFamily="18" charset="0"/>
              <a:ea typeface="SimSun" panose="02010600030101010101" pitchFamily="2" charset="-122"/>
              <a:cs typeface="Mangal"/>
            </a:endParaRPr>
          </a:p>
        </p:txBody>
      </p:sp>
      <p:sp>
        <p:nvSpPr>
          <p:cNvPr id="37" name="Rectangle 36"/>
          <p:cNvSpPr/>
          <p:nvPr/>
        </p:nvSpPr>
        <p:spPr>
          <a:xfrm>
            <a:off x="8973687" y="3232526"/>
            <a:ext cx="914400" cy="21463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800" kern="50" dirty="0">
                <a:solidFill>
                  <a:srgbClr val="000000"/>
                </a:solidFill>
                <a:effectLst/>
                <a:ea typeface="SimSun" panose="02010600030101010101" pitchFamily="2" charset="-122"/>
                <a:cs typeface="Mangal"/>
              </a:rPr>
              <a:t>Custom Module</a:t>
            </a:r>
            <a:endParaRPr lang="en-GB" sz="1200" kern="50" dirty="0">
              <a:effectLst/>
              <a:latin typeface="Times New Roman" panose="02020603050405020304" pitchFamily="18" charset="0"/>
              <a:ea typeface="SimSun" panose="02010600030101010101" pitchFamily="2" charset="-122"/>
              <a:cs typeface="Mangal"/>
            </a:endParaRPr>
          </a:p>
        </p:txBody>
      </p:sp>
      <p:sp>
        <p:nvSpPr>
          <p:cNvPr id="38" name="Text Box 27"/>
          <p:cNvSpPr txBox="1"/>
          <p:nvPr/>
        </p:nvSpPr>
        <p:spPr>
          <a:xfrm>
            <a:off x="6052370" y="4199296"/>
            <a:ext cx="2232314" cy="1864964"/>
          </a:xfrm>
          <a:prstGeom prst="rect">
            <a:avLst/>
          </a:prstGeom>
          <a:solidFill>
            <a:schemeClr val="lt1"/>
          </a:solid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GB" sz="1000" kern="50" dirty="0" smtClean="0">
                <a:ln>
                  <a:noFill/>
                </a:ln>
                <a:solidFill>
                  <a:schemeClr val="tx1"/>
                </a:solidFill>
                <a:effectLst/>
                <a:ea typeface="SimSun" panose="02010600030101010101" pitchFamily="2" charset="-122"/>
                <a:cs typeface="Mangal"/>
              </a:rPr>
              <a:t>Potential module(s) that deals with the navigation of the submerged vehicle. </a:t>
            </a:r>
          </a:p>
          <a:p>
            <a:pPr>
              <a:spcAft>
                <a:spcPts val="0"/>
              </a:spcAft>
            </a:pPr>
            <a:r>
              <a:rPr lang="en-GB" sz="1000" kern="50" dirty="0" smtClean="0">
                <a:solidFill>
                  <a:schemeClr val="tx1"/>
                </a:solidFill>
                <a:ea typeface="SimSun" panose="02010600030101010101" pitchFamily="2" charset="-122"/>
                <a:cs typeface="Mangal"/>
              </a:rPr>
              <a:t>Possibly Acoustic USBL positioning system. </a:t>
            </a:r>
          </a:p>
          <a:p>
            <a:pPr>
              <a:spcAft>
                <a:spcPts val="0"/>
              </a:spcAft>
            </a:pPr>
            <a:endParaRPr lang="en-GB" sz="1000" kern="50" dirty="0">
              <a:solidFill>
                <a:schemeClr val="tx1"/>
              </a:solidFill>
              <a:latin typeface="Times New Roman" panose="02020603050405020304" pitchFamily="18" charset="0"/>
              <a:ea typeface="SimSun" panose="02010600030101010101" pitchFamily="2" charset="-122"/>
              <a:cs typeface="Mangal"/>
            </a:endParaRPr>
          </a:p>
          <a:p>
            <a:pPr>
              <a:spcAft>
                <a:spcPts val="0"/>
              </a:spcAft>
            </a:pPr>
            <a:r>
              <a:rPr lang="en-GB" sz="1000" kern="50" dirty="0" smtClean="0">
                <a:solidFill>
                  <a:schemeClr val="tx1"/>
                </a:solidFill>
                <a:ea typeface="SimSun" panose="02010600030101010101" pitchFamily="2" charset="-122"/>
                <a:cs typeface="Mangal"/>
              </a:rPr>
              <a:t>Standard ROS navigation </a:t>
            </a:r>
            <a:r>
              <a:rPr lang="en-GB" sz="1000" kern="50" dirty="0">
                <a:solidFill>
                  <a:schemeClr val="tx1"/>
                </a:solidFill>
                <a:ea typeface="SimSun" panose="02010600030101010101" pitchFamily="2" charset="-122"/>
                <a:cs typeface="Mangal"/>
              </a:rPr>
              <a:t>using 2D navigation stack that takes in information from sensor streams, goal position and </a:t>
            </a:r>
            <a:r>
              <a:rPr lang="en-GB" sz="1000" kern="50" dirty="0" smtClean="0">
                <a:solidFill>
                  <a:schemeClr val="tx1"/>
                </a:solidFill>
                <a:ea typeface="SimSun" panose="02010600030101010101" pitchFamily="2" charset="-122"/>
                <a:cs typeface="Mangal"/>
              </a:rPr>
              <a:t>odometry. Will be used for establishing Ocean depth that the vehicle has reached.</a:t>
            </a:r>
            <a:endParaRPr lang="en-GB" sz="1200" kern="50" dirty="0">
              <a:solidFill>
                <a:schemeClr val="tx1"/>
              </a:solidFill>
              <a:effectLst/>
              <a:ea typeface="SimSun" panose="02010600030101010101" pitchFamily="2" charset="-122"/>
              <a:cs typeface="Mangal"/>
            </a:endParaRPr>
          </a:p>
        </p:txBody>
      </p:sp>
      <p:sp>
        <p:nvSpPr>
          <p:cNvPr id="41" name="Rectangle 40"/>
          <p:cNvSpPr/>
          <p:nvPr/>
        </p:nvSpPr>
        <p:spPr>
          <a:xfrm>
            <a:off x="6649270" y="3624885"/>
            <a:ext cx="914400" cy="21463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800" kern="50" dirty="0" smtClean="0">
                <a:solidFill>
                  <a:srgbClr val="000000"/>
                </a:solidFill>
                <a:effectLst/>
                <a:ea typeface="SimSun" panose="02010600030101010101" pitchFamily="2" charset="-122"/>
                <a:cs typeface="Mangal"/>
              </a:rPr>
              <a:t>Custom</a:t>
            </a:r>
            <a:endParaRPr lang="en-GB" sz="1200" kern="50" dirty="0">
              <a:effectLst/>
              <a:latin typeface="Times New Roman" panose="02020603050405020304" pitchFamily="18" charset="0"/>
              <a:ea typeface="SimSun" panose="02010600030101010101" pitchFamily="2" charset="-122"/>
              <a:cs typeface="Mangal"/>
            </a:endParaRPr>
          </a:p>
        </p:txBody>
      </p:sp>
      <p:cxnSp>
        <p:nvCxnSpPr>
          <p:cNvPr id="42" name="Straight Connector 41"/>
          <p:cNvCxnSpPr/>
          <p:nvPr/>
        </p:nvCxnSpPr>
        <p:spPr>
          <a:xfrm flipH="1">
            <a:off x="6480995" y="3560808"/>
            <a:ext cx="1428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7602709" y="2452341"/>
            <a:ext cx="9221" cy="2939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9068620" y="2473296"/>
            <a:ext cx="0" cy="254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ounded Rectangle 43"/>
          <p:cNvSpPr/>
          <p:nvPr/>
        </p:nvSpPr>
        <p:spPr>
          <a:xfrm>
            <a:off x="1035553" y="1878619"/>
            <a:ext cx="752475" cy="238125"/>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900" kern="50" dirty="0" smtClean="0">
                <a:effectLst/>
                <a:ea typeface="SimSun" panose="02010600030101010101" pitchFamily="2" charset="-122"/>
                <a:cs typeface="Mangal"/>
              </a:rPr>
              <a:t>Seisometer</a:t>
            </a:r>
            <a:endParaRPr lang="en-GB" sz="1200" kern="50" dirty="0">
              <a:effectLst/>
              <a:latin typeface="Times New Roman" panose="02020603050405020304" pitchFamily="18" charset="0"/>
              <a:ea typeface="SimSun" panose="02010600030101010101" pitchFamily="2" charset="-122"/>
              <a:cs typeface="Mangal"/>
            </a:endParaRPr>
          </a:p>
        </p:txBody>
      </p:sp>
      <p:sp>
        <p:nvSpPr>
          <p:cNvPr id="45" name="Rounded Rectangle 44"/>
          <p:cNvSpPr/>
          <p:nvPr/>
        </p:nvSpPr>
        <p:spPr>
          <a:xfrm>
            <a:off x="1035552" y="2235171"/>
            <a:ext cx="752475" cy="238125"/>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900" kern="50" dirty="0" smtClean="0">
                <a:effectLst/>
                <a:ea typeface="SimSun" panose="02010600030101010101" pitchFamily="2" charset="-122"/>
                <a:cs typeface="Mangal"/>
              </a:rPr>
              <a:t>Ultrasonic </a:t>
            </a:r>
            <a:endParaRPr lang="en-GB" sz="1200" kern="50" dirty="0">
              <a:effectLst/>
              <a:latin typeface="Times New Roman" panose="02020603050405020304" pitchFamily="18" charset="0"/>
              <a:ea typeface="SimSun" panose="02010600030101010101" pitchFamily="2" charset="-122"/>
              <a:cs typeface="Mangal"/>
            </a:endParaRPr>
          </a:p>
        </p:txBody>
      </p:sp>
      <p:sp>
        <p:nvSpPr>
          <p:cNvPr id="46" name="Rounded Rectangle 45"/>
          <p:cNvSpPr/>
          <p:nvPr/>
        </p:nvSpPr>
        <p:spPr>
          <a:xfrm>
            <a:off x="4773479" y="2131376"/>
            <a:ext cx="876935" cy="480352"/>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900" kern="50" dirty="0" smtClean="0">
                <a:effectLst/>
                <a:ea typeface="SimSun" panose="02010600030101010101" pitchFamily="2" charset="-122"/>
                <a:cs typeface="Mangal"/>
              </a:rPr>
              <a:t>USBL</a:t>
            </a:r>
          </a:p>
          <a:p>
            <a:pPr algn="ctr">
              <a:spcAft>
                <a:spcPts val="0"/>
              </a:spcAft>
            </a:pPr>
            <a:r>
              <a:rPr lang="en-GB" sz="900" kern="50" dirty="0" err="1" smtClean="0">
                <a:effectLst/>
                <a:latin typeface="Times New Roman" panose="02020603050405020304" pitchFamily="18" charset="0"/>
                <a:ea typeface="SimSun" panose="02010600030101010101" pitchFamily="2" charset="-122"/>
                <a:cs typeface="Mangal"/>
              </a:rPr>
              <a:t>Transiever</a:t>
            </a:r>
            <a:endParaRPr lang="en-GB" sz="900" kern="50" dirty="0">
              <a:effectLst/>
              <a:latin typeface="Times New Roman" panose="02020603050405020304" pitchFamily="18" charset="0"/>
              <a:ea typeface="SimSun" panose="02010600030101010101" pitchFamily="2" charset="-122"/>
              <a:cs typeface="Mangal"/>
            </a:endParaRPr>
          </a:p>
        </p:txBody>
      </p:sp>
      <p:sp>
        <p:nvSpPr>
          <p:cNvPr id="47" name="Rounded Rectangle 46"/>
          <p:cNvSpPr/>
          <p:nvPr/>
        </p:nvSpPr>
        <p:spPr>
          <a:xfrm>
            <a:off x="939131" y="1713668"/>
            <a:ext cx="2629754" cy="2904052"/>
          </a:xfrm>
          <a:prstGeom prst="round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ounded Rectangle 47"/>
          <p:cNvSpPr/>
          <p:nvPr/>
        </p:nvSpPr>
        <p:spPr>
          <a:xfrm>
            <a:off x="4288036" y="1468452"/>
            <a:ext cx="7923360" cy="459650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Text Box 27"/>
          <p:cNvSpPr txBox="1"/>
          <p:nvPr/>
        </p:nvSpPr>
        <p:spPr>
          <a:xfrm>
            <a:off x="10182974" y="3094529"/>
            <a:ext cx="1756064" cy="1864964"/>
          </a:xfrm>
          <a:prstGeom prst="rect">
            <a:avLst/>
          </a:prstGeom>
          <a:solidFill>
            <a:schemeClr val="lt1"/>
          </a:solid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GB" sz="1000" kern="50" dirty="0" smtClean="0">
                <a:ln>
                  <a:noFill/>
                </a:ln>
                <a:solidFill>
                  <a:schemeClr val="tx1"/>
                </a:solidFill>
                <a:effectLst/>
                <a:ea typeface="SimSun" panose="02010600030101010101" pitchFamily="2" charset="-122"/>
                <a:cs typeface="Mangal"/>
              </a:rPr>
              <a:t>Store array for pitch angles for different moving distances.</a:t>
            </a:r>
          </a:p>
          <a:p>
            <a:pPr>
              <a:spcAft>
                <a:spcPts val="0"/>
              </a:spcAft>
            </a:pPr>
            <a:endParaRPr lang="en-GB" sz="1000" kern="50" dirty="0">
              <a:solidFill>
                <a:schemeClr val="tx1"/>
              </a:solidFill>
              <a:latin typeface="Times New Roman" panose="02020603050405020304" pitchFamily="18" charset="0"/>
              <a:ea typeface="SimSun" panose="02010600030101010101" pitchFamily="2" charset="-122"/>
              <a:cs typeface="Mangal"/>
            </a:endParaRPr>
          </a:p>
          <a:p>
            <a:pPr>
              <a:spcAft>
                <a:spcPts val="0"/>
              </a:spcAft>
            </a:pPr>
            <a:r>
              <a:rPr lang="en-GB" sz="1000" kern="50" dirty="0" smtClean="0">
                <a:solidFill>
                  <a:schemeClr val="tx1"/>
                </a:solidFill>
                <a:effectLst/>
                <a:ea typeface="SimSun" panose="02010600030101010101" pitchFamily="2" charset="-122"/>
                <a:cs typeface="Mangal"/>
              </a:rPr>
              <a:t>Store values from seismometer for corresponding pitch angles obtained (this can be interpreted later to find the angle the system works most efficiently for different depth the submerged vehicle travels under).</a:t>
            </a:r>
            <a:endParaRPr lang="en-GB" sz="1200" kern="50" dirty="0">
              <a:solidFill>
                <a:schemeClr val="tx1"/>
              </a:solidFill>
              <a:effectLst/>
              <a:ea typeface="SimSun" panose="02010600030101010101" pitchFamily="2" charset="-122"/>
              <a:cs typeface="Mangal"/>
            </a:endParaRPr>
          </a:p>
        </p:txBody>
      </p:sp>
      <p:sp>
        <p:nvSpPr>
          <p:cNvPr id="50" name="Text Box 27"/>
          <p:cNvSpPr txBox="1"/>
          <p:nvPr/>
        </p:nvSpPr>
        <p:spPr>
          <a:xfrm>
            <a:off x="1658778" y="2542511"/>
            <a:ext cx="1756064" cy="1864964"/>
          </a:xfrm>
          <a:prstGeom prst="rect">
            <a:avLst/>
          </a:prstGeom>
          <a:solidFill>
            <a:schemeClr val="lt1"/>
          </a:solid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GB" sz="1000" kern="50" dirty="0" smtClean="0">
                <a:solidFill>
                  <a:schemeClr val="tx1"/>
                </a:solidFill>
                <a:ea typeface="SimSun" panose="02010600030101010101" pitchFamily="2" charset="-122"/>
                <a:cs typeface="Mangal"/>
              </a:rPr>
              <a:t>Calculations for pitch angle can be done on Cortex M4. </a:t>
            </a:r>
          </a:p>
          <a:p>
            <a:pPr>
              <a:spcAft>
                <a:spcPts val="0"/>
              </a:spcAft>
            </a:pPr>
            <a:endParaRPr lang="en-GB" sz="1000" kern="50" dirty="0">
              <a:solidFill>
                <a:schemeClr val="tx1"/>
              </a:solidFill>
              <a:effectLst/>
              <a:latin typeface="Times New Roman" panose="02020603050405020304" pitchFamily="18" charset="0"/>
              <a:ea typeface="SimSun" panose="02010600030101010101" pitchFamily="2" charset="-122"/>
              <a:cs typeface="Mangal"/>
            </a:endParaRPr>
          </a:p>
          <a:p>
            <a:pPr>
              <a:spcAft>
                <a:spcPts val="0"/>
              </a:spcAft>
            </a:pPr>
            <a:r>
              <a:rPr lang="en-GB" sz="1000" kern="50" dirty="0" smtClean="0">
                <a:solidFill>
                  <a:schemeClr val="tx1"/>
                </a:solidFill>
                <a:ea typeface="SimSun" panose="02010600030101010101" pitchFamily="2" charset="-122"/>
                <a:cs typeface="Mangal"/>
              </a:rPr>
              <a:t>Data from seismometer can be processed on cortex m4 and placed in an array before transfer to raspberry pie 4.</a:t>
            </a:r>
            <a:endParaRPr lang="en-GB" sz="1200" kern="50" dirty="0">
              <a:solidFill>
                <a:schemeClr val="tx1"/>
              </a:solidFill>
              <a:effectLst/>
              <a:ea typeface="SimSun" panose="02010600030101010101" pitchFamily="2" charset="-122"/>
              <a:cs typeface="Mangal"/>
            </a:endParaRPr>
          </a:p>
        </p:txBody>
      </p:sp>
      <p:cxnSp>
        <p:nvCxnSpPr>
          <p:cNvPr id="51" name="Straight Arrow Connector 50"/>
          <p:cNvCxnSpPr/>
          <p:nvPr/>
        </p:nvCxnSpPr>
        <p:spPr>
          <a:xfrm>
            <a:off x="378921" y="2765974"/>
            <a:ext cx="7143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3568885" y="3115195"/>
            <a:ext cx="7143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531620" y="1143000"/>
            <a:ext cx="1200150" cy="369332"/>
          </a:xfrm>
          <a:prstGeom prst="rect">
            <a:avLst/>
          </a:prstGeom>
          <a:noFill/>
        </p:spPr>
        <p:txBody>
          <a:bodyPr wrap="square" rtlCol="0">
            <a:spAutoFit/>
          </a:bodyPr>
          <a:lstStyle/>
          <a:p>
            <a:r>
              <a:rPr lang="en-GB" b="1" dirty="0" smtClean="0"/>
              <a:t>Cortex M4</a:t>
            </a:r>
            <a:endParaRPr lang="en-GB" b="1" dirty="0"/>
          </a:p>
        </p:txBody>
      </p:sp>
      <p:sp>
        <p:nvSpPr>
          <p:cNvPr id="54" name="TextBox 53"/>
          <p:cNvSpPr txBox="1"/>
          <p:nvPr/>
        </p:nvSpPr>
        <p:spPr>
          <a:xfrm>
            <a:off x="7357294" y="1011760"/>
            <a:ext cx="2289625" cy="369332"/>
          </a:xfrm>
          <a:prstGeom prst="rect">
            <a:avLst/>
          </a:prstGeom>
          <a:noFill/>
        </p:spPr>
        <p:txBody>
          <a:bodyPr wrap="square" rtlCol="0">
            <a:spAutoFit/>
          </a:bodyPr>
          <a:lstStyle/>
          <a:p>
            <a:r>
              <a:rPr lang="en-GB" b="1" dirty="0" smtClean="0"/>
              <a:t>Raspberry Pie 4</a:t>
            </a:r>
            <a:endParaRPr lang="en-GB" b="1" dirty="0"/>
          </a:p>
        </p:txBody>
      </p:sp>
      <p:sp>
        <p:nvSpPr>
          <p:cNvPr id="55" name="Rectangle 54"/>
          <p:cNvSpPr/>
          <p:nvPr/>
        </p:nvSpPr>
        <p:spPr>
          <a:xfrm>
            <a:off x="8584027" y="3968862"/>
            <a:ext cx="1355266" cy="646331"/>
          </a:xfrm>
          <a:prstGeom prst="rect">
            <a:avLst/>
          </a:prstGeom>
        </p:spPr>
        <p:txBody>
          <a:bodyPr wrap="square">
            <a:spAutoFit/>
          </a:bodyPr>
          <a:lstStyle/>
          <a:p>
            <a:r>
              <a:rPr lang="en-GB" sz="1200" dirty="0"/>
              <a:t>Gyroscope to inhibit titling in directions x and z.</a:t>
            </a:r>
          </a:p>
        </p:txBody>
      </p:sp>
      <p:sp>
        <p:nvSpPr>
          <p:cNvPr id="56" name="Rectangle 55"/>
          <p:cNvSpPr/>
          <p:nvPr/>
        </p:nvSpPr>
        <p:spPr>
          <a:xfrm>
            <a:off x="569628" y="4662419"/>
            <a:ext cx="2239222" cy="938719"/>
          </a:xfrm>
          <a:prstGeom prst="rect">
            <a:avLst/>
          </a:prstGeom>
        </p:spPr>
        <p:txBody>
          <a:bodyPr wrap="square">
            <a:spAutoFit/>
          </a:bodyPr>
          <a:lstStyle/>
          <a:p>
            <a:r>
              <a:rPr lang="en-GB" sz="1100" dirty="0"/>
              <a:t>Ultrasonic sensor to detect the distance the moving object moves to (this would be mounted at the inner wall of the submerged vehicle).</a:t>
            </a:r>
          </a:p>
        </p:txBody>
      </p:sp>
      <p:sp>
        <p:nvSpPr>
          <p:cNvPr id="39" name="Title 1"/>
          <p:cNvSpPr>
            <a:spLocks noGrp="1"/>
          </p:cNvSpPr>
          <p:nvPr>
            <p:ph type="title"/>
          </p:nvPr>
        </p:nvSpPr>
        <p:spPr>
          <a:xfrm>
            <a:off x="0" y="-434877"/>
            <a:ext cx="10515600" cy="1325563"/>
          </a:xfrm>
        </p:spPr>
        <p:txBody>
          <a:bodyPr>
            <a:normAutofit/>
          </a:bodyPr>
          <a:lstStyle/>
          <a:p>
            <a:pPr algn="ctr"/>
            <a:r>
              <a:rPr lang="en-GB" sz="2800" b="1" dirty="0" smtClean="0"/>
              <a:t>Architecture</a:t>
            </a:r>
            <a:endParaRPr lang="en-GB" sz="3600" b="1" dirty="0"/>
          </a:p>
        </p:txBody>
      </p:sp>
      <p:sp>
        <p:nvSpPr>
          <p:cNvPr id="40" name="Rectangle 39"/>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p:cNvSpPr txBox="1"/>
          <p:nvPr/>
        </p:nvSpPr>
        <p:spPr>
          <a:xfrm>
            <a:off x="7563670" y="0"/>
            <a:ext cx="4628330" cy="923330"/>
          </a:xfrm>
          <a:prstGeom prst="rect">
            <a:avLst/>
          </a:prstGeom>
          <a:noFill/>
        </p:spPr>
        <p:txBody>
          <a:bodyPr wrap="square" rtlCol="0">
            <a:spAutoFit/>
          </a:bodyPr>
          <a:lstStyle/>
          <a:p>
            <a:r>
              <a:rPr lang="en-GB" dirty="0"/>
              <a:t>Negative loop </a:t>
            </a:r>
            <a:r>
              <a:rPr lang="en-GB" dirty="0" smtClean="0"/>
              <a:t>feedback control system to outline erroneous values and be aware of accuracy on reading data</a:t>
            </a:r>
            <a:endParaRPr lang="en-GB" dirty="0"/>
          </a:p>
        </p:txBody>
      </p:sp>
    </p:spTree>
    <p:extLst>
      <p:ext uri="{BB962C8B-B14F-4D97-AF65-F5344CB8AC3E}">
        <p14:creationId xmlns:p14="http://schemas.microsoft.com/office/powerpoint/2010/main" val="3654481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84564" y="976745"/>
            <a:ext cx="8125691" cy="5278582"/>
          </a:xfrm>
          <a:prstGeom prst="rect">
            <a:avLst/>
          </a:prstGeom>
          <a:solidFill>
            <a:schemeClr val="bg1"/>
          </a:solid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2" name="TextBox 11"/>
              <p:cNvSpPr txBox="1"/>
              <p:nvPr/>
            </p:nvSpPr>
            <p:spPr>
              <a:xfrm>
                <a:off x="1345018" y="1095154"/>
                <a:ext cx="8048847" cy="5632311"/>
              </a:xfrm>
              <a:prstGeom prst="rect">
                <a:avLst/>
              </a:prstGeom>
              <a:noFill/>
            </p:spPr>
            <p:txBody>
              <a:bodyPr wrap="square" rtlCol="0">
                <a:spAutoFit/>
              </a:bodyPr>
              <a:lstStyle/>
              <a:p>
                <a:r>
                  <a:rPr lang="en-GB" b="1" dirty="0" smtClean="0"/>
                  <a:t>Procedure</a:t>
                </a:r>
                <a:r>
                  <a:rPr lang="en-GB" dirty="0" smtClean="0"/>
                  <a:t> Value_Iteration(M, </a:t>
                </a:r>
                <a14:m>
                  <m:oMath xmlns:m="http://schemas.openxmlformats.org/officeDocument/2006/math">
                    <m:r>
                      <m:rPr>
                        <m:nor/>
                      </m:rPr>
                      <a:rPr lang="az-Cyrl-AZ" dirty="0">
                        <a:latin typeface="Calibri" panose="020F0502020204030204" pitchFamily="34" charset="0"/>
                        <a:cs typeface="Calibri" panose="020F0502020204030204" pitchFamily="34" charset="0"/>
                      </a:rPr>
                      <m:t>Ѳ</m:t>
                    </m:r>
                  </m:oMath>
                </a14:m>
                <a:r>
                  <a:rPr lang="en-GB" dirty="0" smtClean="0"/>
                  <a:t>, g, d)</a:t>
                </a:r>
              </a:p>
              <a:p>
                <a:r>
                  <a:rPr lang="en-GB" b="1" dirty="0" smtClean="0"/>
                  <a:t>Inputs </a:t>
                </a:r>
              </a:p>
              <a:p>
                <a:r>
                  <a:rPr lang="en-GB" dirty="0" smtClean="0"/>
                  <a:t>	store values as floats: M </a:t>
                </a:r>
                <a:r>
                  <a:rPr lang="en-GB" dirty="0"/>
                  <a:t>= mass of sliding object, </a:t>
                </a:r>
                <a14:m>
                  <m:oMath xmlns:m="http://schemas.openxmlformats.org/officeDocument/2006/math">
                    <m:r>
                      <m:rPr>
                        <m:nor/>
                      </m:rPr>
                      <a:rPr lang="az-Cyrl-AZ" dirty="0">
                        <a:latin typeface="Calibri" panose="020F0502020204030204" pitchFamily="34" charset="0"/>
                        <a:cs typeface="Calibri" panose="020F0502020204030204" pitchFamily="34" charset="0"/>
                      </a:rPr>
                      <m:t>Ѳ</m:t>
                    </m:r>
                  </m:oMath>
                </a14:m>
                <a:r>
                  <a:rPr lang="en-GB" dirty="0"/>
                  <a:t> = Pitch, g = 9.81ms^-</a:t>
                </a:r>
                <a:r>
                  <a:rPr lang="en-GB" dirty="0" smtClean="0"/>
                  <a:t>2</a:t>
                </a:r>
              </a:p>
              <a:p>
                <a:r>
                  <a:rPr lang="en-GB" b="1" dirty="0" smtClean="0"/>
                  <a:t>Outputs</a:t>
                </a:r>
                <a:endParaRPr lang="en-GB" dirty="0" smtClean="0"/>
              </a:p>
              <a:p>
                <a:r>
                  <a:rPr lang="en-GB" dirty="0" smtClean="0"/>
                  <a:t>	Value for d (distance)</a:t>
                </a:r>
              </a:p>
              <a:p>
                <a:r>
                  <a:rPr lang="en-GB" b="1" dirty="0" smtClean="0"/>
                  <a:t>For n iterations (number of values you want to store)</a:t>
                </a:r>
                <a:endParaRPr lang="en-GB" b="1" dirty="0"/>
              </a:p>
              <a:p>
                <a:r>
                  <a:rPr lang="en-GB" b="1" dirty="0" smtClean="0"/>
                  <a:t>	Algorithm</a:t>
                </a:r>
                <a:endParaRPr lang="en-GB" dirty="0"/>
              </a:p>
              <a:p>
                <a:r>
                  <a:rPr lang="en-GB" dirty="0" smtClean="0"/>
                  <a:t>		float a = 2*M*g; </a:t>
                </a:r>
              </a:p>
              <a:p>
                <a:r>
                  <a:rPr lang="en-GB" b="1" dirty="0" smtClean="0"/>
                  <a:t>	Store Value </a:t>
                </a:r>
                <a:endParaRPr lang="en-GB" b="1" dirty="0"/>
              </a:p>
              <a:p>
                <a:r>
                  <a:rPr lang="en-GB" dirty="0" smtClean="0"/>
                  <a:t>		float b = cos(</a:t>
                </a:r>
                <a14:m>
                  <m:oMath xmlns:m="http://schemas.openxmlformats.org/officeDocument/2006/math">
                    <m:r>
                      <m:rPr>
                        <m:nor/>
                      </m:rPr>
                      <a:rPr lang="az-Cyrl-AZ" dirty="0">
                        <a:latin typeface="Calibri" panose="020F0502020204030204" pitchFamily="34" charset="0"/>
                        <a:cs typeface="Calibri" panose="020F0502020204030204" pitchFamily="34" charset="0"/>
                      </a:rPr>
                      <m:t>Ѳ</m:t>
                    </m:r>
                  </m:oMath>
                </a14:m>
                <a:r>
                  <a:rPr lang="en-GB" dirty="0" smtClean="0"/>
                  <a:t>);</a:t>
                </a:r>
              </a:p>
              <a:p>
                <a:r>
                  <a:rPr lang="en-GB" b="1" dirty="0" smtClean="0"/>
                  <a:t>	Store Value	</a:t>
                </a:r>
              </a:p>
              <a:p>
                <a:r>
                  <a:rPr lang="en-GB" dirty="0"/>
                  <a:t>	</a:t>
                </a:r>
                <a:r>
                  <a:rPr lang="en-GB" dirty="0" smtClean="0"/>
                  <a:t>	float d = a/b; </a:t>
                </a:r>
              </a:p>
              <a:p>
                <a:r>
                  <a:rPr lang="en-GB" b="1" dirty="0" smtClean="0"/>
                  <a:t>	Store Value into Array</a:t>
                </a:r>
              </a:p>
              <a:p>
                <a:r>
                  <a:rPr lang="en-GB" b="1" dirty="0"/>
                  <a:t>	</a:t>
                </a:r>
                <a:r>
                  <a:rPr lang="en-GB" dirty="0" smtClean="0"/>
                  <a:t>sleep(100); delay for 100ms</a:t>
                </a:r>
              </a:p>
              <a:p>
                <a:endParaRPr lang="en-GB" b="1" dirty="0"/>
              </a:p>
              <a:p>
                <a:r>
                  <a:rPr lang="en-GB" b="1" dirty="0" smtClean="0"/>
                  <a:t>End</a:t>
                </a:r>
              </a:p>
              <a:p>
                <a:endParaRPr lang="en-GB" b="1" dirty="0"/>
              </a:p>
              <a:p>
                <a:r>
                  <a:rPr lang="en-GB" b="1" dirty="0" smtClean="0"/>
                  <a:t>Return;</a:t>
                </a:r>
              </a:p>
              <a:p>
                <a:endParaRPr lang="en-GB" dirty="0" smtClean="0"/>
              </a:p>
              <a:p>
                <a:endParaRPr lang="en-GB" dirty="0" smtClean="0"/>
              </a:p>
            </p:txBody>
          </p:sp>
        </mc:Choice>
        <mc:Fallback xmlns="">
          <p:sp>
            <p:nvSpPr>
              <p:cNvPr id="12" name="TextBox 11"/>
              <p:cNvSpPr txBox="1">
                <a:spLocks noRot="1" noChangeAspect="1" noMove="1" noResize="1" noEditPoints="1" noAdjustHandles="1" noChangeArrowheads="1" noChangeShapeType="1" noTextEdit="1"/>
              </p:cNvSpPr>
              <p:nvPr/>
            </p:nvSpPr>
            <p:spPr>
              <a:xfrm>
                <a:off x="1345018" y="1095154"/>
                <a:ext cx="8048847" cy="5632311"/>
              </a:xfrm>
              <a:prstGeom prst="rect">
                <a:avLst/>
              </a:prstGeom>
              <a:blipFill rotWithShape="0">
                <a:blip r:embed="rId2"/>
                <a:stretch>
                  <a:fillRect l="-682" t="-64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7652522" y="366754"/>
                <a:ext cx="1194558" cy="589200"/>
              </a:xfrm>
              <a:prstGeom prst="rect">
                <a:avLst/>
              </a:prstGeom>
            </p:spPr>
            <p:txBody>
              <a:bodyPr wrap="none">
                <a:spAutoFit/>
              </a:bodyPr>
              <a:lstStyle/>
              <a:p>
                <a:r>
                  <a:rPr lang="en-GB" dirty="0" smtClean="0"/>
                  <a:t>d = </a:t>
                </a:r>
                <a14:m>
                  <m:oMath xmlns:m="http://schemas.openxmlformats.org/officeDocument/2006/math">
                    <m:f>
                      <m:fPr>
                        <m:ctrlPr>
                          <a:rPr lang="en-GB" b="1" i="1">
                            <a:latin typeface="Cambria Math" panose="02040503050406030204" pitchFamily="18" charset="0"/>
                          </a:rPr>
                        </m:ctrlPr>
                      </m:fPr>
                      <m:num>
                        <m:r>
                          <a:rPr lang="en-GB" b="1" i="1" smtClean="0">
                            <a:latin typeface="Cambria Math" panose="02040503050406030204" pitchFamily="18" charset="0"/>
                          </a:rPr>
                          <m:t>𝟐</m:t>
                        </m:r>
                        <m:r>
                          <m:rPr>
                            <m:nor/>
                          </m:rPr>
                          <a:rPr lang="en-GB">
                            <a:latin typeface="Cambria Math" panose="02040503050406030204" pitchFamily="18" charset="0"/>
                          </a:rPr>
                          <m:t>M</m:t>
                        </m:r>
                        <m:r>
                          <m:rPr>
                            <m:nor/>
                          </m:rPr>
                          <a:rPr lang="en-GB" b="0" i="0" smtClean="0">
                            <a:latin typeface="Cambria Math" panose="02040503050406030204" pitchFamily="18" charset="0"/>
                          </a:rPr>
                          <m:t> </m:t>
                        </m:r>
                        <m:r>
                          <m:rPr>
                            <m:nor/>
                          </m:rPr>
                          <a:rPr lang="en-GB">
                            <a:latin typeface="Cambria Math" panose="02040503050406030204" pitchFamily="18" charset="0"/>
                          </a:rPr>
                          <m:t>g</m:t>
                        </m:r>
                      </m:num>
                      <m:den>
                        <m:r>
                          <m:rPr>
                            <m:nor/>
                          </m:rPr>
                          <a:rPr lang="en-GB">
                            <a:latin typeface="Cambria Math" panose="02040503050406030204" pitchFamily="18" charset="0"/>
                          </a:rPr>
                          <m:t>cos</m:t>
                        </m:r>
                        <m:r>
                          <m:rPr>
                            <m:nor/>
                          </m:rPr>
                          <a:rPr lang="en-GB">
                            <a:latin typeface="Cambria Math" panose="02040503050406030204" pitchFamily="18" charset="0"/>
                          </a:rPr>
                          <m:t>(</m:t>
                        </m:r>
                        <m:r>
                          <m:rPr>
                            <m:nor/>
                          </m:rPr>
                          <a:rPr lang="az-Cyrl-AZ" dirty="0">
                            <a:latin typeface="Calibri" panose="020F0502020204030204" pitchFamily="34" charset="0"/>
                            <a:cs typeface="Calibri" panose="020F0502020204030204" pitchFamily="34" charset="0"/>
                          </a:rPr>
                          <m:t>Ѳ</m:t>
                        </m:r>
                        <m:r>
                          <m:rPr>
                            <m:nor/>
                          </m:rPr>
                          <a:rPr lang="en-GB">
                            <a:latin typeface="Cambria Math" panose="02040503050406030204" pitchFamily="18" charset="0"/>
                          </a:rPr>
                          <m:t>)</m:t>
                        </m:r>
                      </m:den>
                    </m:f>
                  </m:oMath>
                </a14:m>
                <a:endParaRPr lang="en-GB" dirty="0"/>
              </a:p>
            </p:txBody>
          </p:sp>
        </mc:Choice>
        <mc:Fallback xmlns="">
          <p:sp>
            <p:nvSpPr>
              <p:cNvPr id="2" name="Rectangle 1"/>
              <p:cNvSpPr>
                <a:spLocks noRot="1" noChangeAspect="1" noMove="1" noResize="1" noEditPoints="1" noAdjustHandles="1" noChangeArrowheads="1" noChangeShapeType="1" noTextEdit="1"/>
              </p:cNvSpPr>
              <p:nvPr/>
            </p:nvSpPr>
            <p:spPr>
              <a:xfrm>
                <a:off x="7652522" y="366754"/>
                <a:ext cx="1194558" cy="589200"/>
              </a:xfrm>
              <a:prstGeom prst="rect">
                <a:avLst/>
              </a:prstGeom>
              <a:blipFill rotWithShape="0">
                <a:blip r:embed="rId3"/>
                <a:stretch>
                  <a:fillRect l="-4082"/>
                </a:stretch>
              </a:blipFill>
            </p:spPr>
            <p:txBody>
              <a:bodyPr/>
              <a:lstStyle/>
              <a:p>
                <a:r>
                  <a:rPr lang="en-GB">
                    <a:noFill/>
                  </a:rPr>
                  <a:t> </a:t>
                </a:r>
              </a:p>
            </p:txBody>
          </p:sp>
        </mc:Fallback>
      </mc:AlternateContent>
      <p:sp>
        <p:nvSpPr>
          <p:cNvPr id="4" name="TextBox 3"/>
          <p:cNvSpPr txBox="1"/>
          <p:nvPr/>
        </p:nvSpPr>
        <p:spPr>
          <a:xfrm>
            <a:off x="9668619" y="976745"/>
            <a:ext cx="2523381" cy="5078313"/>
          </a:xfrm>
          <a:prstGeom prst="rect">
            <a:avLst/>
          </a:prstGeom>
          <a:noFill/>
          <a:ln>
            <a:solidFill>
              <a:schemeClr val="tx1"/>
            </a:solidFill>
          </a:ln>
        </p:spPr>
        <p:txBody>
          <a:bodyPr wrap="square" rtlCol="0">
            <a:spAutoFit/>
          </a:bodyPr>
          <a:lstStyle/>
          <a:p>
            <a:r>
              <a:rPr lang="en-GB" dirty="0" smtClean="0"/>
              <a:t>The Cortex M4 will assign float values to sensor readings, then perform the necessary calculations. This will then be sent to the </a:t>
            </a:r>
            <a:r>
              <a:rPr lang="en-GB" dirty="0" err="1" smtClean="0"/>
              <a:t>Rasberry</a:t>
            </a:r>
            <a:r>
              <a:rPr lang="en-GB" dirty="0" smtClean="0"/>
              <a:t> Pi for processing and storing.  </a:t>
            </a:r>
          </a:p>
          <a:p>
            <a:endParaRPr lang="en-GB" dirty="0"/>
          </a:p>
          <a:p>
            <a:r>
              <a:rPr lang="en-GB" dirty="0" err="1" smtClean="0"/>
              <a:t>Rasberry</a:t>
            </a:r>
            <a:r>
              <a:rPr lang="en-GB" dirty="0" smtClean="0"/>
              <a:t> Pi will also have a series of workspaces and custom modules that deal with stabilisation of the submerged vehicle. As well as the regulation of how far to let the sliding object move forward.</a:t>
            </a:r>
            <a:endParaRPr lang="en-GB" dirty="0"/>
          </a:p>
        </p:txBody>
      </p:sp>
      <p:sp>
        <p:nvSpPr>
          <p:cNvPr id="7" name="Title 1"/>
          <p:cNvSpPr>
            <a:spLocks noGrp="1"/>
          </p:cNvSpPr>
          <p:nvPr>
            <p:ph type="title"/>
          </p:nvPr>
        </p:nvSpPr>
        <p:spPr>
          <a:xfrm>
            <a:off x="0" y="-434877"/>
            <a:ext cx="10515600" cy="1325563"/>
          </a:xfrm>
        </p:spPr>
        <p:txBody>
          <a:bodyPr>
            <a:normAutofit/>
          </a:bodyPr>
          <a:lstStyle/>
          <a:p>
            <a:pPr algn="ctr"/>
            <a:r>
              <a:rPr lang="en-GB" sz="2800" b="1" dirty="0"/>
              <a:t>Pseudo Code for Arm architecture:</a:t>
            </a:r>
          </a:p>
        </p:txBody>
      </p:sp>
      <p:sp>
        <p:nvSpPr>
          <p:cNvPr id="8" name="Rectangle 7"/>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52562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a:xfrm>
            <a:off x="540203" y="1216398"/>
            <a:ext cx="3139282" cy="5278582"/>
          </a:xfrm>
          <a:prstGeom prst="rect">
            <a:avLst/>
          </a:prstGeom>
          <a:solidFill>
            <a:schemeClr val="bg1"/>
          </a:solid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5436966" y="5640792"/>
            <a:ext cx="6053145" cy="1200329"/>
          </a:xfrm>
          <a:prstGeom prst="rect">
            <a:avLst/>
          </a:prstGeom>
          <a:ln>
            <a:solidFill>
              <a:schemeClr val="tx1"/>
            </a:solidFill>
          </a:ln>
        </p:spPr>
        <p:txBody>
          <a:bodyPr wrap="square">
            <a:spAutoFit/>
          </a:bodyPr>
          <a:lstStyle/>
          <a:p>
            <a:r>
              <a:rPr lang="en-GB" dirty="0" smtClean="0"/>
              <a:t>Raspberry </a:t>
            </a:r>
            <a:r>
              <a:rPr lang="en-GB" dirty="0"/>
              <a:t>Pi will also have a series of workspaces and custom modules that deal with stabilisation of the submerged vehicle. As well as the regulation of how far to let the sliding object move </a:t>
            </a:r>
            <a:r>
              <a:rPr lang="en-GB" dirty="0" smtClean="0"/>
              <a:t>forward (using a servo motor control).</a:t>
            </a:r>
            <a:endParaRPr lang="en-GB" dirty="0"/>
          </a:p>
        </p:txBody>
      </p:sp>
      <p:sp>
        <p:nvSpPr>
          <p:cNvPr id="6" name="Rectangle 5"/>
          <p:cNvSpPr/>
          <p:nvPr/>
        </p:nvSpPr>
        <p:spPr>
          <a:xfrm>
            <a:off x="5394960" y="2326350"/>
            <a:ext cx="5278582"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rot="5400000">
            <a:off x="6727206" y="2162844"/>
            <a:ext cx="93518" cy="5195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 name="Rectangle 7"/>
          <p:cNvSpPr/>
          <p:nvPr/>
        </p:nvSpPr>
        <p:spPr>
          <a:xfrm rot="5400000">
            <a:off x="7544627" y="2169771"/>
            <a:ext cx="93518" cy="5195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9" name="Rectangle 8"/>
          <p:cNvSpPr/>
          <p:nvPr/>
        </p:nvSpPr>
        <p:spPr>
          <a:xfrm rot="5400000">
            <a:off x="8299703" y="2187088"/>
            <a:ext cx="93518" cy="5195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0" name="Rectangle 9"/>
          <p:cNvSpPr/>
          <p:nvPr/>
        </p:nvSpPr>
        <p:spPr>
          <a:xfrm>
            <a:off x="9066416" y="1913854"/>
            <a:ext cx="93518" cy="5195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 name="Oval 10"/>
          <p:cNvSpPr/>
          <p:nvPr/>
        </p:nvSpPr>
        <p:spPr>
          <a:xfrm>
            <a:off x="4646815" y="1941886"/>
            <a:ext cx="1205345" cy="6442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Centre</a:t>
            </a:r>
            <a:endParaRPr lang="en-GB" dirty="0"/>
          </a:p>
        </p:txBody>
      </p:sp>
      <p:sp>
        <p:nvSpPr>
          <p:cNvPr id="12" name="Rounded Rectangle 11"/>
          <p:cNvSpPr/>
          <p:nvPr/>
        </p:nvSpPr>
        <p:spPr>
          <a:xfrm>
            <a:off x="7988546" y="1913854"/>
            <a:ext cx="1070263" cy="38446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3" name="Rounded Rectangle 12"/>
          <p:cNvSpPr/>
          <p:nvPr/>
        </p:nvSpPr>
        <p:spPr>
          <a:xfrm>
            <a:off x="6016685" y="1913854"/>
            <a:ext cx="1070263" cy="384464"/>
          </a:xfrm>
          <a:prstGeom prst="roundRect">
            <a:avLst/>
          </a:prstGeom>
          <a:solidFill>
            <a:schemeClr val="dk1">
              <a:alpha val="21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4" name="Rounded Rectangle 13"/>
          <p:cNvSpPr/>
          <p:nvPr/>
        </p:nvSpPr>
        <p:spPr>
          <a:xfrm>
            <a:off x="6729511" y="1927708"/>
            <a:ext cx="916816" cy="384464"/>
          </a:xfrm>
          <a:prstGeom prst="roundRect">
            <a:avLst/>
          </a:prstGeom>
          <a:solidFill>
            <a:schemeClr val="dk1">
              <a:alpha val="21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5" name="Rounded Rectangle 14"/>
          <p:cNvSpPr/>
          <p:nvPr/>
        </p:nvSpPr>
        <p:spPr>
          <a:xfrm>
            <a:off x="7086948" y="1920781"/>
            <a:ext cx="1070263" cy="384464"/>
          </a:xfrm>
          <a:prstGeom prst="roundRect">
            <a:avLst/>
          </a:prstGeom>
          <a:solidFill>
            <a:schemeClr val="dk1">
              <a:alpha val="49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6" name="Oval 15"/>
          <p:cNvSpPr/>
          <p:nvPr/>
        </p:nvSpPr>
        <p:spPr>
          <a:xfrm rot="5400000">
            <a:off x="6404747" y="2373651"/>
            <a:ext cx="99394" cy="11949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17" name="Oval 16"/>
          <p:cNvSpPr/>
          <p:nvPr/>
        </p:nvSpPr>
        <p:spPr>
          <a:xfrm rot="5400000">
            <a:off x="7224758" y="2364942"/>
            <a:ext cx="99394" cy="11949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18" name="Oval 17"/>
          <p:cNvSpPr/>
          <p:nvPr/>
        </p:nvSpPr>
        <p:spPr>
          <a:xfrm rot="5400000">
            <a:off x="7982948" y="2380182"/>
            <a:ext cx="99394" cy="11949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19" name="Oval 18"/>
          <p:cNvSpPr/>
          <p:nvPr/>
        </p:nvSpPr>
        <p:spPr>
          <a:xfrm>
            <a:off x="9065902" y="2421896"/>
            <a:ext cx="99394" cy="11949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20" name="TextBox 19"/>
          <p:cNvSpPr txBox="1"/>
          <p:nvPr/>
        </p:nvSpPr>
        <p:spPr>
          <a:xfrm>
            <a:off x="6724149" y="2619798"/>
            <a:ext cx="1903335" cy="369332"/>
          </a:xfrm>
          <a:prstGeom prst="rect">
            <a:avLst/>
          </a:prstGeom>
          <a:noFill/>
        </p:spPr>
        <p:txBody>
          <a:bodyPr wrap="square" rtlCol="0">
            <a:spAutoFit/>
          </a:bodyPr>
          <a:lstStyle/>
          <a:p>
            <a:r>
              <a:rPr lang="en-GB" dirty="0" smtClean="0"/>
              <a:t>Servo Motors</a:t>
            </a:r>
            <a:endParaRPr lang="en-GB" dirty="0"/>
          </a:p>
        </p:txBody>
      </p:sp>
      <p:sp>
        <p:nvSpPr>
          <p:cNvPr id="21" name="TextBox 20"/>
          <p:cNvSpPr txBox="1"/>
          <p:nvPr/>
        </p:nvSpPr>
        <p:spPr>
          <a:xfrm>
            <a:off x="7988546" y="1476238"/>
            <a:ext cx="1903335" cy="369332"/>
          </a:xfrm>
          <a:prstGeom prst="rect">
            <a:avLst/>
          </a:prstGeom>
          <a:noFill/>
        </p:spPr>
        <p:txBody>
          <a:bodyPr wrap="square" rtlCol="0">
            <a:spAutoFit/>
          </a:bodyPr>
          <a:lstStyle/>
          <a:p>
            <a:r>
              <a:rPr lang="en-GB" dirty="0" smtClean="0"/>
              <a:t>Moving mass</a:t>
            </a:r>
            <a:endParaRPr lang="en-GB" dirty="0"/>
          </a:p>
        </p:txBody>
      </p:sp>
      <p:sp>
        <p:nvSpPr>
          <p:cNvPr id="24" name="TextBox 23"/>
          <p:cNvSpPr txBox="1"/>
          <p:nvPr/>
        </p:nvSpPr>
        <p:spPr>
          <a:xfrm>
            <a:off x="849260" y="1470420"/>
            <a:ext cx="2656495" cy="4770537"/>
          </a:xfrm>
          <a:prstGeom prst="rect">
            <a:avLst/>
          </a:prstGeom>
          <a:noFill/>
        </p:spPr>
        <p:txBody>
          <a:bodyPr wrap="square" rtlCol="0">
            <a:spAutoFit/>
          </a:bodyPr>
          <a:lstStyle/>
          <a:p>
            <a:r>
              <a:rPr lang="en-GB" sz="1600" dirty="0" smtClean="0"/>
              <a:t>For(pitch&lt; max value)</a:t>
            </a:r>
          </a:p>
          <a:p>
            <a:r>
              <a:rPr lang="en-GB" sz="1600" dirty="0"/>
              <a:t>{</a:t>
            </a:r>
            <a:endParaRPr lang="en-GB" sz="1600" dirty="0" smtClean="0"/>
          </a:p>
          <a:p>
            <a:r>
              <a:rPr lang="en-GB" sz="1600" dirty="0" smtClean="0"/>
              <a:t>If depth &gt; a</a:t>
            </a:r>
          </a:p>
          <a:p>
            <a:r>
              <a:rPr lang="en-GB" sz="1600" dirty="0" smtClean="0"/>
              <a:t>Activate Motor1;</a:t>
            </a:r>
          </a:p>
          <a:p>
            <a:r>
              <a:rPr lang="en-GB" sz="1600" dirty="0" smtClean="0"/>
              <a:t>Delay for 100ms;</a:t>
            </a:r>
          </a:p>
          <a:p>
            <a:endParaRPr lang="en-GB" sz="1600" dirty="0"/>
          </a:p>
          <a:p>
            <a:r>
              <a:rPr lang="en-GB" sz="1600" dirty="0" smtClean="0"/>
              <a:t>If </a:t>
            </a:r>
            <a:r>
              <a:rPr lang="en-GB" sz="1600" dirty="0"/>
              <a:t>depth </a:t>
            </a:r>
            <a:r>
              <a:rPr lang="en-GB" sz="1600" dirty="0" smtClean="0"/>
              <a:t>&gt; b</a:t>
            </a:r>
          </a:p>
          <a:p>
            <a:r>
              <a:rPr lang="en-GB" sz="1600" dirty="0" smtClean="0"/>
              <a:t>Activate Motor2;</a:t>
            </a:r>
          </a:p>
          <a:p>
            <a:r>
              <a:rPr lang="en-GB" sz="1600" dirty="0" smtClean="0"/>
              <a:t>Delay for 100ms;</a:t>
            </a:r>
          </a:p>
          <a:p>
            <a:endParaRPr lang="en-GB" sz="1600" dirty="0" smtClean="0"/>
          </a:p>
          <a:p>
            <a:r>
              <a:rPr lang="en-GB" dirty="0"/>
              <a:t>If depth </a:t>
            </a:r>
            <a:r>
              <a:rPr lang="en-GB" dirty="0" smtClean="0"/>
              <a:t>&gt; c</a:t>
            </a:r>
            <a:endParaRPr lang="en-GB" dirty="0"/>
          </a:p>
          <a:p>
            <a:r>
              <a:rPr lang="en-GB" dirty="0"/>
              <a:t>Activate </a:t>
            </a:r>
            <a:r>
              <a:rPr lang="en-GB" dirty="0" smtClean="0"/>
              <a:t>Motor3;</a:t>
            </a:r>
            <a:endParaRPr lang="en-GB" dirty="0"/>
          </a:p>
          <a:p>
            <a:r>
              <a:rPr lang="en-GB" dirty="0"/>
              <a:t>Delay for 100ms;</a:t>
            </a:r>
          </a:p>
          <a:p>
            <a:endParaRPr lang="en-GB" dirty="0"/>
          </a:p>
          <a:p>
            <a:r>
              <a:rPr lang="en-GB" dirty="0" smtClean="0"/>
              <a:t>If depth &gt; d</a:t>
            </a:r>
          </a:p>
          <a:p>
            <a:r>
              <a:rPr lang="en-GB" dirty="0" smtClean="0"/>
              <a:t>Activate Motor4;</a:t>
            </a:r>
          </a:p>
          <a:p>
            <a:r>
              <a:rPr lang="en-GB" dirty="0" smtClean="0"/>
              <a:t>Delay </a:t>
            </a:r>
            <a:r>
              <a:rPr lang="en-GB" dirty="0"/>
              <a:t>for 100ms;</a:t>
            </a:r>
          </a:p>
          <a:p>
            <a:r>
              <a:rPr lang="en-GB" dirty="0" smtClean="0"/>
              <a:t>}</a:t>
            </a:r>
          </a:p>
        </p:txBody>
      </p:sp>
      <p:sp>
        <p:nvSpPr>
          <p:cNvPr id="26" name="Rectangle 25"/>
          <p:cNvSpPr/>
          <p:nvPr/>
        </p:nvSpPr>
        <p:spPr>
          <a:xfrm>
            <a:off x="5193725" y="2975041"/>
            <a:ext cx="6487857" cy="2585323"/>
          </a:xfrm>
          <a:prstGeom prst="rect">
            <a:avLst/>
          </a:prstGeom>
          <a:ln>
            <a:solidFill>
              <a:schemeClr val="tx1"/>
            </a:solidFill>
          </a:ln>
        </p:spPr>
        <p:txBody>
          <a:bodyPr wrap="square">
            <a:spAutoFit/>
          </a:bodyPr>
          <a:lstStyle/>
          <a:p>
            <a:r>
              <a:rPr lang="en-GB" b="1" dirty="0"/>
              <a:t>The idea was to have the pitch angle possibly be large when the submerged vehicle has just entered the water, and to then be smaller when entering greater depths. Depths will be measured using Lidar sensors along with the navigation ROS package</a:t>
            </a:r>
            <a:r>
              <a:rPr lang="en-GB" b="1" dirty="0" smtClean="0"/>
              <a:t>.</a:t>
            </a:r>
            <a:endParaRPr lang="en-GB" b="1" dirty="0"/>
          </a:p>
          <a:p>
            <a:endParaRPr lang="en-GB" dirty="0" smtClean="0"/>
          </a:p>
          <a:p>
            <a:r>
              <a:rPr lang="en-GB" dirty="0" smtClean="0"/>
              <a:t>Implementing regulation for the pitch angle by first checking if the pitch angle is less that 90degrees (a set max value);</a:t>
            </a:r>
          </a:p>
          <a:p>
            <a:r>
              <a:rPr lang="en-GB" dirty="0" smtClean="0"/>
              <a:t>Then to implement motors to stop the mass from continuously moving too far.</a:t>
            </a:r>
          </a:p>
        </p:txBody>
      </p:sp>
      <p:sp>
        <p:nvSpPr>
          <p:cNvPr id="27" name="Rounded Rectangle 26"/>
          <p:cNvSpPr/>
          <p:nvPr/>
        </p:nvSpPr>
        <p:spPr>
          <a:xfrm>
            <a:off x="10043160" y="1941886"/>
            <a:ext cx="228600" cy="20435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8" name="Rounded Rectangle 27"/>
          <p:cNvSpPr/>
          <p:nvPr/>
        </p:nvSpPr>
        <p:spPr>
          <a:xfrm>
            <a:off x="10271759" y="1504593"/>
            <a:ext cx="1218352" cy="75941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dirty="0" smtClean="0"/>
              <a:t>Ultrasonic</a:t>
            </a:r>
          </a:p>
          <a:p>
            <a:pPr algn="ctr"/>
            <a:r>
              <a:rPr lang="en-GB" dirty="0" smtClean="0"/>
              <a:t>Sensor</a:t>
            </a:r>
            <a:endParaRPr lang="en-GB" dirty="0"/>
          </a:p>
        </p:txBody>
      </p:sp>
      <p:sp>
        <p:nvSpPr>
          <p:cNvPr id="30" name="Arc 29"/>
          <p:cNvSpPr/>
          <p:nvPr/>
        </p:nvSpPr>
        <p:spPr>
          <a:xfrm rot="14228745">
            <a:off x="9863503" y="1716087"/>
            <a:ext cx="926840" cy="793852"/>
          </a:xfrm>
          <a:prstGeom prst="arc">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1" name="Arc 30"/>
          <p:cNvSpPr/>
          <p:nvPr/>
        </p:nvSpPr>
        <p:spPr>
          <a:xfrm rot="14228745">
            <a:off x="9698726" y="1716086"/>
            <a:ext cx="926840" cy="793852"/>
          </a:xfrm>
          <a:prstGeom prst="arc">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2" name="Arc 31"/>
          <p:cNvSpPr/>
          <p:nvPr/>
        </p:nvSpPr>
        <p:spPr>
          <a:xfrm rot="14228745">
            <a:off x="9533947" y="1706578"/>
            <a:ext cx="926840" cy="793852"/>
          </a:xfrm>
          <a:prstGeom prst="arc">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3" name="Title 1"/>
          <p:cNvSpPr>
            <a:spLocks noGrp="1"/>
          </p:cNvSpPr>
          <p:nvPr>
            <p:ph type="title"/>
          </p:nvPr>
        </p:nvSpPr>
        <p:spPr>
          <a:xfrm>
            <a:off x="0" y="-434877"/>
            <a:ext cx="10515600" cy="1325563"/>
          </a:xfrm>
        </p:spPr>
        <p:txBody>
          <a:bodyPr>
            <a:normAutofit/>
          </a:bodyPr>
          <a:lstStyle/>
          <a:p>
            <a:pPr algn="ctr"/>
            <a:r>
              <a:rPr lang="en-GB" sz="2800" b="1" dirty="0"/>
              <a:t>Regulating Pitch using Raspberry Pi</a:t>
            </a:r>
          </a:p>
        </p:txBody>
      </p:sp>
      <p:sp>
        <p:nvSpPr>
          <p:cNvPr id="34" name="Rectangle 33"/>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30039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6656" y="890687"/>
            <a:ext cx="10753725" cy="3487004"/>
          </a:xfrm>
          <a:ln>
            <a:solidFill>
              <a:schemeClr val="tx1"/>
            </a:solidFill>
          </a:ln>
        </p:spPr>
        <p:txBody>
          <a:bodyPr/>
          <a:lstStyle/>
          <a:p>
            <a:r>
              <a:rPr lang="en-GB" b="1" dirty="0" smtClean="0"/>
              <a:t>Gyroscope</a:t>
            </a:r>
            <a:r>
              <a:rPr lang="en-GB" dirty="0" smtClean="0"/>
              <a:t> to inhibit titling in directions x and z.</a:t>
            </a:r>
          </a:p>
          <a:p>
            <a:r>
              <a:rPr lang="en-GB" b="1" dirty="0" smtClean="0"/>
              <a:t>Ultrasonic sensor </a:t>
            </a:r>
            <a:r>
              <a:rPr lang="en-GB" dirty="0" smtClean="0"/>
              <a:t>to detect the distance the moving object moves to (this would be mounted at the inner wall of the submerged vehicle).</a:t>
            </a:r>
          </a:p>
          <a:p>
            <a:r>
              <a:rPr lang="en-GB" b="1" dirty="0" smtClean="0"/>
              <a:t>Lidar</a:t>
            </a:r>
            <a:r>
              <a:rPr lang="en-GB" dirty="0" smtClean="0"/>
              <a:t> sensor used for ocean depth monitoring, through the use of odometry (from the Navigation ROS package).</a:t>
            </a:r>
          </a:p>
          <a:p>
            <a:r>
              <a:rPr lang="en-GB" b="1" dirty="0" smtClean="0"/>
              <a:t>Seismometer</a:t>
            </a:r>
            <a:r>
              <a:rPr lang="en-GB" dirty="0" smtClean="0"/>
              <a:t> for acquisition of seismic data.</a:t>
            </a:r>
          </a:p>
          <a:p>
            <a:r>
              <a:rPr lang="en-GB" b="1" dirty="0" smtClean="0"/>
              <a:t>USBL transceiver </a:t>
            </a:r>
            <a:r>
              <a:rPr lang="en-GB" dirty="0" smtClean="0"/>
              <a:t>and </a:t>
            </a:r>
            <a:r>
              <a:rPr lang="en-GB" b="1" dirty="0" smtClean="0"/>
              <a:t>transponder</a:t>
            </a:r>
            <a:r>
              <a:rPr lang="en-GB" dirty="0" smtClean="0"/>
              <a:t> for </a:t>
            </a:r>
            <a:r>
              <a:rPr lang="en-GB" kern="50" dirty="0" smtClean="0">
                <a:ea typeface="SimSun" panose="02010600030101010101" pitchFamily="2" charset="-122"/>
                <a:cs typeface="Mangal"/>
              </a:rPr>
              <a:t>Acoustic USBL positioning communication.</a:t>
            </a:r>
            <a:endParaRPr lang="en-GB" dirty="0" smtClean="0"/>
          </a:p>
          <a:p>
            <a:endParaRPr lang="en-GB" dirty="0"/>
          </a:p>
        </p:txBody>
      </p:sp>
      <p:sp>
        <p:nvSpPr>
          <p:cNvPr id="5" name="Title 1"/>
          <p:cNvSpPr txBox="1">
            <a:spLocks/>
          </p:cNvSpPr>
          <p:nvPr/>
        </p:nvSpPr>
        <p:spPr>
          <a:xfrm>
            <a:off x="0" y="-434877"/>
            <a:ext cx="10515600" cy="1325563"/>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pPr algn="ctr"/>
            <a:r>
              <a:rPr lang="en-GB" sz="2800" b="1" dirty="0" smtClean="0"/>
              <a:t>Sensors</a:t>
            </a:r>
            <a:endParaRPr lang="en-GB" sz="2800" b="1" dirty="0"/>
          </a:p>
        </p:txBody>
      </p:sp>
      <p:sp>
        <p:nvSpPr>
          <p:cNvPr id="7" name="Rectangle 6"/>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1850743"/>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TM03457491[[fn=Metropolitan]]</Template>
  <TotalTime>889</TotalTime>
  <Words>1261</Words>
  <Application>Microsoft Office PowerPoint</Application>
  <PresentationFormat>Widescreen</PresentationFormat>
  <Paragraphs>194</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SimSun</vt:lpstr>
      <vt:lpstr>Arial</vt:lpstr>
      <vt:lpstr>Calibri</vt:lpstr>
      <vt:lpstr>Calibri Light</vt:lpstr>
      <vt:lpstr>Cambria Math</vt:lpstr>
      <vt:lpstr>Mangal</vt:lpstr>
      <vt:lpstr>Times New Roman</vt:lpstr>
      <vt:lpstr>Metropolitan</vt:lpstr>
      <vt:lpstr>Modelling a submerged Vehicle using ROS  (Initial planning for System Design)</vt:lpstr>
      <vt:lpstr>PowerPoint Presentation</vt:lpstr>
      <vt:lpstr>Additional Variables and Assumptions (Solutions to model with greater accuracy) </vt:lpstr>
      <vt:lpstr>Architecture</vt:lpstr>
      <vt:lpstr>Architecture</vt:lpstr>
      <vt:lpstr>Pseudo Code for Arm architecture:</vt:lpstr>
      <vt:lpstr>Regulating Pitch using Raspberry Pi</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Cali Alio</dc:creator>
  <cp:lastModifiedBy>Ali Cali Alio</cp:lastModifiedBy>
  <cp:revision>196</cp:revision>
  <dcterms:created xsi:type="dcterms:W3CDTF">2020-07-31T16:01:49Z</dcterms:created>
  <dcterms:modified xsi:type="dcterms:W3CDTF">2020-09-10T22:35:14Z</dcterms:modified>
</cp:coreProperties>
</file>